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36f520-73df-95e6-2554-964ae5eb332a}">
          <p14:sldIdLst>
            <p14:sldId id="256"/>
          </p14:sldIdLst>
        </p14:section>
        <p14:section name="Application" id="{3346a3fc-e6e4-38ac-3efe-dda8fd362567}">
          <p14:sldIdLst>
            <p14:sldId id="257"/>
            <p14:sldId id="258"/>
            <p14:sldId id="259"/>
          </p14:sldIdLst>
        </p14:section>
        <p14:section name="Delivery" id="{de766314-2971-2bd5-2ef2-454a951edff5}">
          <p14:sldIdLst>
            <p14:sldId id="260"/>
            <p14:sldId id="261"/>
          </p14:sldIdLst>
        </p14:section>
        <p14:section name="Platform" id="{8e7013f9-3f2e-af1e-1da5-0205f12c38e6}">
          <p14:sldIdLst>
            <p14:sldId id="262"/>
            <p14:sldId id="263"/>
            <p14:sldId id="264"/>
            <p14:sldId id="265"/>
          </p14:sldIdLst>
        </p14:section>
        <p14:section name="Operations" id="{94d79c60-2c35-84d2-3044-9053ad30d5b0}">
          <p14:sldIdLst>
            <p14:sldId id="266"/>
            <p14:sldId id="267"/>
          </p14:sldIdLst>
        </p14:section>
        <p14:section name="Wrap-up" id="{2b0a33d6-c249-6e31-203a-3a4a0f479f46}">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line: my own Typeahead application, taken from a commit on GitHub all the way to a monitored Kubernetes deployment managed through GitOps. Everything shown later was actually run. The cloud part is the one piece that was designed and planned but not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reused my own Typeahead project instead of the starter app. It has two Spring Boot services, a React frontend, PostgreSQL, Kafka and Redis, so it gives the DevOps layers something real to carry. For the capstone I added the catalog CRUD and its tests. The Java stack was confirmed as allowed in place of 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Ingress sends the root path to the frontend, catalog and search calls to the ingestion service, and suggestion calls to the suggestion service. Every application service runs two replicas. PostgreSQL and Kafka keep their data on persistent volumes; Redis is only a cache and can be rebuilt.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asks for at least four REST endpoints with GET, POST, PUT and DELETE; the catalog covers all four, and the service also has search and suggest. Validation returns 400 for blank or oversized input and 409 for duplicates. The controller tests mock the database and Kafka; the smoke script is what proves the real path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session21.yml. Images are tagged with the full commit SHA, never latest, so the cluster always runs exactly what was tested and scanned. The deploy stage creates a throwaway kind cluster inside the runner, installs the Helm chart, runs the smoke test and deletes the cluster even when a step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Semgrep for SAST on Java and TypeScript, Trivy for dependencies and all three runtime images, and Gitleaks over the Git history. Both Trivy gates fail on any HIGH or CRITICAL finding and there is no ignore file. The failed scan runs are kept as evidence that the gate really blocks publishing. The CVE was CVE-2026-47884.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chart is used by the CI kind cluster, by Minikube, and by Argo CD. Passwords are never chart values: bootstrap generates a random database Secret outside Git. The screenshot is the live app reached through the Ingress host typeahead.local.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allows, play the 90-second browser walkthrough here instead of the stills. The point to make is that the frontend really calls the API: the entry is written to PostgreSQL, and the suggestion service picks it up and serves it from its trie. The entry was deleted again at the end of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finds each backend replica through headless metrics Services, so a new HPA replica is scraped automatically. The Grafana dashboard is provisioned from the chart and shows request rate, latency, JVM heap and scrape health. There is also an alert rule for a backend going down. The load figures come from a real run; it shows autoscaling works, it is not a production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AppProject only allows this one repository and the assignment-s21 namespace. The recorded release went commit 0f8f27c, then promotion commit 044fcd9, and Argo CD reported Synced and Healthy at that exact revision. For the drift test I changed the frontend Service selector by hand; Argo CD noticed and restored the Git version without anyone running a repair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match the six steps the brief asks for. The Kafka one is the most interesting because it was a real bug in the reused app: the consumer thread exited forever if broker DNS was missing at startup. After the fix, the same container recovered on its own once DNS came back. An earlier attempt with a wrong targetPort did not cause a visible failure, so I did not count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here. The Terraform is complete and produces a clean plan, but I did not have AWS access to apply it, so the whole platform was demonstrated on local Kubernetes instead. The design avoids a NAT gateway and load balancer to keep a short demo cheap, and only the operator's IP can reach the Kubernetes API. In Sessions 18 and 19 I did create and destroy real AWS resources with 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lessons came from the first real Kubernetes launch failing, which local Docker Compose never showed. The third is the security story from slide six. The last is the reason GitOps felt worth it: the Git history is the deployment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README for the full evidence: every screenshot, the CI runs, the 10-minute commit-to-deployment terminal recording and the 90-second browser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rtlCol="0"/>
          <a:lstStyle>
            <a:lvl1pPr indent="0" marL="0">
              <a:buNone/>
              <a:defRPr lang="en-US" sz="1200" b="1" spc="200" kern="0" dirty="0">
                <a:solidFill>
                  <a:schemeClr val="accent2"/>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rtlCol="0"/>
          <a:lstStyle>
            <a:lvl1pPr indent="0" marL="0">
              <a:buNone/>
              <a:defRPr lang="en-US" sz="1200" b="1" spc="200" kern="0"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9C3D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CENT">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rtlCol="0"/>
          <a:lstStyle>
            <a:lvl1pPr indent="0" marL="0">
              <a:buNone/>
              <a:defRPr lang="en-US" sz="1200" b="1" spc="200" kern="0" dirty="0">
                <a:solidFill>
                  <a:schemeClr val="tx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10192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3816" y="1600200"/>
            <a:ext cx="10564063" cy="365760"/>
          </a:xfrm>
          <a:prstGeom prst="rect">
            <a:avLst/>
          </a:prstGeom>
          <a:noFill/>
          <a:ln/>
        </p:spPr>
        <p:txBody>
          <a:bodyPr wrap="square" lIns="0" tIns="0" rIns="0" bIns="0" rtlCol="0" anchor="t"/>
          <a:lstStyle/>
          <a:p>
            <a:pPr indent="0" marL="0">
              <a:buNone/>
            </a:pPr>
            <a:r>
              <a:rPr lang="en-US" sz="1400" b="1" spc="200" kern="0" dirty="0">
                <a:solidFill>
                  <a:schemeClr val="accent1"/>
                </a:solidFill>
                <a:latin typeface="Courier New" pitchFamily="34" charset="0"/>
                <a:ea typeface="Courier New" pitchFamily="34" charset="-122"/>
                <a:cs typeface="Courier New" pitchFamily="34" charset="-120"/>
              </a:rPr>
              <a:t>SESSION 21 · FINAL DEVOPS PROJECT</a:t>
            </a:r>
            <a:endParaRPr lang="en-US" sz="1400" dirty="0"/>
          </a:p>
        </p:txBody>
      </p:sp>
      <p:sp>
        <p:nvSpPr>
          <p:cNvPr id="3" name="Text 1"/>
          <p:cNvSpPr txBox="1"/>
          <p:nvPr/>
        </p:nvSpPr>
        <p:spPr>
          <a:xfrm>
            <a:off x="813816" y="2103120"/>
            <a:ext cx="10564063" cy="2011680"/>
          </a:xfrm>
          <a:prstGeom prst="rect">
            <a:avLst/>
          </a:prstGeom>
          <a:noFill/>
          <a:ln/>
        </p:spPr>
        <p:txBody>
          <a:bodyPr wrap="square" lIns="0" tIns="0" rIns="0" bIns="0" rtlCol="0" anchor="t"/>
          <a:lstStyle/>
          <a:p>
            <a:pPr indent="0" marL="0">
              <a:lnSpc>
                <a:spcPct val="95000"/>
              </a:lnSpc>
              <a:buNone/>
            </a:pPr>
            <a:r>
              <a:rPr lang="en-US" sz="6000" b="1" dirty="0">
                <a:solidFill>
                  <a:schemeClr val="bg1"/>
                </a:solidFill>
              </a:rPr>
              <a:t>Typeahead,</a:t>
            </a:r>
            <a:endParaRPr lang="en-US" sz="6000" dirty="0"/>
          </a:p>
          <a:p>
            <a:pPr indent="0" marL="0">
              <a:lnSpc>
                <a:spcPct val="95000"/>
              </a:lnSpc>
              <a:buNone/>
            </a:pPr>
            <a:r>
              <a:rPr lang="en-US" sz="6000" b="1" dirty="0">
                <a:solidFill>
                  <a:schemeClr val="bg1"/>
                </a:solidFill>
              </a:rPr>
              <a:t>commit to cluster</a:t>
            </a:r>
            <a:endParaRPr lang="en-US" sz="6000" dirty="0"/>
          </a:p>
        </p:txBody>
      </p:sp>
      <p:sp>
        <p:nvSpPr>
          <p:cNvPr id="4" name="Text 2"/>
          <p:cNvSpPr txBox="1"/>
          <p:nvPr/>
        </p:nvSpPr>
        <p:spPr>
          <a:xfrm>
            <a:off x="813816" y="4251960"/>
            <a:ext cx="9601200" cy="822960"/>
          </a:xfrm>
          <a:prstGeom prst="rect">
            <a:avLst/>
          </a:prstGeom>
          <a:noFill/>
          <a:ln/>
        </p:spPr>
        <p:txBody>
          <a:bodyPr wrap="square" lIns="0" tIns="0" rIns="0" bIns="0" rtlCol="0" anchor="t"/>
          <a:lstStyle/>
          <a:p>
            <a:pPr indent="0" marL="0">
              <a:buNone/>
            </a:pPr>
            <a:r>
              <a:rPr lang="en-US" sz="2000" dirty="0">
                <a:solidFill>
                  <a:schemeClr val="accent4"/>
                </a:solidFill>
              </a:rPr>
              <a:t>A search-suggestion app taken through CI/CD, DevSecOps, Kubernetes, Helm, monitoring and GitOps</a:t>
            </a:r>
            <a:endParaRPr lang="en-US" sz="2000" dirty="0"/>
          </a:p>
        </p:txBody>
      </p:sp>
      <p:sp>
        <p:nvSpPr>
          <p:cNvPr id="5" name="Text 3"/>
          <p:cNvSpPr txBox="1"/>
          <p:nvPr/>
        </p:nvSpPr>
        <p:spPr>
          <a:xfrm>
            <a:off x="813816" y="5760720"/>
            <a:ext cx="7315200" cy="365760"/>
          </a:xfrm>
          <a:prstGeom prst="rect">
            <a:avLst/>
          </a:prstGeom>
          <a:noFill/>
          <a:ln/>
        </p:spPr>
        <p:txBody>
          <a:bodyPr wrap="square" lIns="0" tIns="0" rIns="0" bIns="0" rtlCol="0" anchor="t"/>
          <a:lstStyle/>
          <a:p>
            <a:pPr indent="0" marL="0">
              <a:buNone/>
            </a:pPr>
            <a:r>
              <a:rPr lang="en-US" sz="1500" dirty="0">
                <a:solidFill>
                  <a:schemeClr val="accent4"/>
                </a:solidFill>
              </a:rPr>
              <a:t>Vimal Kumar Yadav · 24BCS10273 ·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THE APPLICATION</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tx1"/>
                </a:solidFill>
              </a:rPr>
              <a:t>One app with three jobs</a:t>
            </a:r>
            <a:endParaRPr lang="en-US" sz="3600" dirty="0"/>
          </a:p>
        </p:txBody>
      </p:sp>
      <p:sp>
        <p:nvSpPr>
          <p:cNvPr id="4" name="job-Suggest"/>
          <p:cNvSpPr/>
          <p:nvPr/>
        </p:nvSpPr>
        <p:spPr>
          <a:xfrm>
            <a:off x="813816" y="1965960"/>
            <a:ext cx="3338474" cy="3566160"/>
          </a:xfrm>
          <a:prstGeom prst="roundRect">
            <a:avLst>
              <a:gd name="adj" fmla="val 3287"/>
            </a:avLst>
          </a:prstGeom>
          <a:solidFill>
            <a:schemeClr val="bg1"/>
          </a:solidFill>
          <a:ln w="9525">
            <a:solidFill>
              <a:srgbClr val="DDD8CD"/>
            </a:solidFill>
            <a:prstDash val="solid"/>
          </a:ln>
        </p:spPr>
      </p:sp>
      <p:sp>
        <p:nvSpPr>
          <p:cNvPr id="5" name="Shape 3"/>
          <p:cNvSpPr/>
          <p:nvPr/>
        </p:nvSpPr>
        <p:spPr>
          <a:xfrm>
            <a:off x="1179576" y="2331720"/>
            <a:ext cx="566928" cy="566928"/>
          </a:xfrm>
          <a:prstGeom prst="ellipse">
            <a:avLst/>
          </a:prstGeom>
          <a:solidFill>
            <a:schemeClr val="accent2"/>
          </a:solidFill>
          <a:ln/>
        </p:spPr>
      </p:sp>
      <p:sp>
        <p:nvSpPr>
          <p:cNvPr id="6" name="Text 4"/>
          <p:cNvSpPr txBox="1"/>
          <p:nvPr/>
        </p:nvSpPr>
        <p:spPr>
          <a:xfrm>
            <a:off x="1179576" y="2331720"/>
            <a:ext cx="566928"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01</a:t>
            </a:r>
            <a:endParaRPr lang="en-US" sz="1400" dirty="0"/>
          </a:p>
        </p:txBody>
      </p:sp>
      <p:sp>
        <p:nvSpPr>
          <p:cNvPr id="7" name="Text 5"/>
          <p:cNvSpPr txBox="1"/>
          <p:nvPr/>
        </p:nvSpPr>
        <p:spPr>
          <a:xfrm>
            <a:off x="1179576" y="3154680"/>
            <a:ext cx="2606954" cy="457200"/>
          </a:xfrm>
          <a:prstGeom prst="rect">
            <a:avLst/>
          </a:prstGeom>
          <a:noFill/>
          <a:ln/>
        </p:spPr>
        <p:txBody>
          <a:bodyPr wrap="square" lIns="0" tIns="0" rIns="0" bIns="0" rtlCol="0" anchor="t"/>
          <a:lstStyle/>
          <a:p>
            <a:pPr indent="0" marL="0">
              <a:buNone/>
            </a:pPr>
            <a:r>
              <a:rPr lang="en-US" sz="2200" b="1" dirty="0">
                <a:solidFill>
                  <a:schemeClr val="tx1"/>
                </a:solidFill>
              </a:rPr>
              <a:t>Suggest</a:t>
            </a:r>
            <a:endParaRPr lang="en-US" sz="2200" dirty="0"/>
          </a:p>
        </p:txBody>
      </p:sp>
      <p:sp>
        <p:nvSpPr>
          <p:cNvPr id="8" name="Text 6"/>
          <p:cNvSpPr txBox="1"/>
          <p:nvPr/>
        </p:nvSpPr>
        <p:spPr>
          <a:xfrm>
            <a:off x="1179576" y="3703320"/>
            <a:ext cx="2606954" cy="164592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Ranked prefix suggestions as you type, from an in-memory trie with a Redis cache in front.</a:t>
            </a:r>
            <a:endParaRPr lang="en-US" sz="1600" dirty="0"/>
          </a:p>
        </p:txBody>
      </p:sp>
      <p:sp>
        <p:nvSpPr>
          <p:cNvPr id="9" name="job-Manage"/>
          <p:cNvSpPr/>
          <p:nvPr/>
        </p:nvSpPr>
        <p:spPr>
          <a:xfrm>
            <a:off x="4426610" y="1965960"/>
            <a:ext cx="3338474" cy="3566160"/>
          </a:xfrm>
          <a:prstGeom prst="roundRect">
            <a:avLst>
              <a:gd name="adj" fmla="val 3287"/>
            </a:avLst>
          </a:prstGeom>
          <a:solidFill>
            <a:schemeClr val="bg1"/>
          </a:solidFill>
          <a:ln w="9525">
            <a:solidFill>
              <a:srgbClr val="DDD8CD"/>
            </a:solidFill>
            <a:prstDash val="solid"/>
          </a:ln>
        </p:spPr>
      </p:sp>
      <p:sp>
        <p:nvSpPr>
          <p:cNvPr id="10" name="Shape 8"/>
          <p:cNvSpPr/>
          <p:nvPr/>
        </p:nvSpPr>
        <p:spPr>
          <a:xfrm>
            <a:off x="4792370" y="2331720"/>
            <a:ext cx="566928" cy="566928"/>
          </a:xfrm>
          <a:prstGeom prst="ellipse">
            <a:avLst/>
          </a:prstGeom>
          <a:solidFill>
            <a:schemeClr val="accent2"/>
          </a:solidFill>
          <a:ln/>
        </p:spPr>
      </p:sp>
      <p:sp>
        <p:nvSpPr>
          <p:cNvPr id="11" name="Text 9"/>
          <p:cNvSpPr txBox="1"/>
          <p:nvPr/>
        </p:nvSpPr>
        <p:spPr>
          <a:xfrm>
            <a:off x="4792370" y="2331720"/>
            <a:ext cx="566928"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02</a:t>
            </a:r>
            <a:endParaRPr lang="en-US" sz="1400" dirty="0"/>
          </a:p>
        </p:txBody>
      </p:sp>
      <p:sp>
        <p:nvSpPr>
          <p:cNvPr id="12" name="Text 10"/>
          <p:cNvSpPr txBox="1"/>
          <p:nvPr/>
        </p:nvSpPr>
        <p:spPr>
          <a:xfrm>
            <a:off x="4792370" y="3154680"/>
            <a:ext cx="2606954" cy="457200"/>
          </a:xfrm>
          <a:prstGeom prst="rect">
            <a:avLst/>
          </a:prstGeom>
          <a:noFill/>
          <a:ln/>
        </p:spPr>
        <p:txBody>
          <a:bodyPr wrap="square" lIns="0" tIns="0" rIns="0" bIns="0" rtlCol="0" anchor="t"/>
          <a:lstStyle/>
          <a:p>
            <a:pPr indent="0" marL="0">
              <a:buNone/>
            </a:pPr>
            <a:r>
              <a:rPr lang="en-US" sz="2200" b="1" dirty="0">
                <a:solidFill>
                  <a:schemeClr val="tx1"/>
                </a:solidFill>
              </a:rPr>
              <a:t>Manage</a:t>
            </a:r>
            <a:endParaRPr lang="en-US" sz="2200" dirty="0"/>
          </a:p>
        </p:txBody>
      </p:sp>
      <p:sp>
        <p:nvSpPr>
          <p:cNvPr id="13" name="Text 11"/>
          <p:cNvSpPr txBox="1"/>
          <p:nvPr/>
        </p:nvSpPr>
        <p:spPr>
          <a:xfrm>
            <a:off x="4792370" y="3703320"/>
            <a:ext cx="2606954" cy="164592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A query catalog with create, edit and delete, stored in PostgreSQL with Flyway migrations.</a:t>
            </a:r>
            <a:endParaRPr lang="en-US" sz="1600" dirty="0"/>
          </a:p>
        </p:txBody>
      </p:sp>
      <p:sp>
        <p:nvSpPr>
          <p:cNvPr id="14" name="job-Learn"/>
          <p:cNvSpPr/>
          <p:nvPr/>
        </p:nvSpPr>
        <p:spPr>
          <a:xfrm>
            <a:off x="8039405" y="1965960"/>
            <a:ext cx="3338474" cy="3566160"/>
          </a:xfrm>
          <a:prstGeom prst="roundRect">
            <a:avLst>
              <a:gd name="adj" fmla="val 3287"/>
            </a:avLst>
          </a:prstGeom>
          <a:solidFill>
            <a:schemeClr val="bg1"/>
          </a:solidFill>
          <a:ln w="9525">
            <a:solidFill>
              <a:srgbClr val="DDD8CD"/>
            </a:solidFill>
            <a:prstDash val="solid"/>
          </a:ln>
        </p:spPr>
      </p:sp>
      <p:sp>
        <p:nvSpPr>
          <p:cNvPr id="15" name="Shape 13"/>
          <p:cNvSpPr/>
          <p:nvPr/>
        </p:nvSpPr>
        <p:spPr>
          <a:xfrm>
            <a:off x="8405165" y="2331720"/>
            <a:ext cx="566928" cy="566928"/>
          </a:xfrm>
          <a:prstGeom prst="ellipse">
            <a:avLst/>
          </a:prstGeom>
          <a:solidFill>
            <a:schemeClr val="accent2"/>
          </a:solidFill>
          <a:ln/>
        </p:spPr>
      </p:sp>
      <p:sp>
        <p:nvSpPr>
          <p:cNvPr id="16" name="Text 14"/>
          <p:cNvSpPr txBox="1"/>
          <p:nvPr/>
        </p:nvSpPr>
        <p:spPr>
          <a:xfrm>
            <a:off x="8405165" y="2331720"/>
            <a:ext cx="566928"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03</a:t>
            </a:r>
            <a:endParaRPr lang="en-US" sz="1400" dirty="0"/>
          </a:p>
        </p:txBody>
      </p:sp>
      <p:sp>
        <p:nvSpPr>
          <p:cNvPr id="17" name="Text 15"/>
          <p:cNvSpPr txBox="1"/>
          <p:nvPr/>
        </p:nvSpPr>
        <p:spPr>
          <a:xfrm>
            <a:off x="8405165" y="3154680"/>
            <a:ext cx="2606954" cy="457200"/>
          </a:xfrm>
          <a:prstGeom prst="rect">
            <a:avLst/>
          </a:prstGeom>
          <a:noFill/>
          <a:ln/>
        </p:spPr>
        <p:txBody>
          <a:bodyPr wrap="square" lIns="0" tIns="0" rIns="0" bIns="0" rtlCol="0" anchor="t"/>
          <a:lstStyle/>
          <a:p>
            <a:pPr indent="0" marL="0">
              <a:buNone/>
            </a:pPr>
            <a:r>
              <a:rPr lang="en-US" sz="2200" b="1" dirty="0">
                <a:solidFill>
                  <a:schemeClr val="tx1"/>
                </a:solidFill>
              </a:rPr>
              <a:t>Learn</a:t>
            </a:r>
            <a:endParaRPr lang="en-US" sz="2200" dirty="0"/>
          </a:p>
        </p:txBody>
      </p:sp>
      <p:sp>
        <p:nvSpPr>
          <p:cNvPr id="18" name="Text 16"/>
          <p:cNvSpPr txBox="1"/>
          <p:nvPr/>
        </p:nvSpPr>
        <p:spPr>
          <a:xfrm>
            <a:off x="8405165" y="3703320"/>
            <a:ext cx="2606954" cy="164592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Each search becomes a Kafka event that raises its count, so suggestions refresh within seconds.</a:t>
            </a:r>
            <a:endParaRPr lang="en-US" sz="1600" dirty="0"/>
          </a:p>
        </p:txBody>
      </p:sp>
      <p:sp>
        <p:nvSpPr>
          <p:cNvPr id="19" name="Text 17"/>
          <p:cNvSpPr txBox="1"/>
          <p:nvPr/>
        </p:nvSpPr>
        <p:spPr>
          <a:xfrm>
            <a:off x="813816" y="6291072"/>
            <a:ext cx="9692640" cy="274320"/>
          </a:xfrm>
          <a:prstGeom prst="rect">
            <a:avLst/>
          </a:prstGeom>
          <a:noFill/>
          <a:ln/>
        </p:spPr>
        <p:txBody>
          <a:bodyPr wrap="square" lIns="0" tIns="0" rIns="0" bIns="0" rtlCol="0" anchor="t"/>
          <a:lstStyle/>
          <a:p>
            <a:pPr indent="0" marL="0">
              <a:buNone/>
            </a:pPr>
            <a:r>
              <a:rPr lang="en-US" sz="1200" dirty="0">
                <a:solidFill>
                  <a:srgbClr val="6B7280"/>
                </a:solidFill>
              </a:rPr>
              <a:t>Adapted from my own repository vimalyad/typeahead · Spring Boot, JUnit and Flyway in place of FastAPI, pytest and Alembic (approved)</a:t>
            </a:r>
            <a:endParaRPr lang="en-US" sz="12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ARCHITECTURE</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tx1"/>
                </a:solidFill>
              </a:rPr>
              <a:t>Two services, three stores, one Ingress</a:t>
            </a:r>
            <a:endParaRPr lang="en-US" sz="3600" dirty="0"/>
          </a:p>
        </p:txBody>
      </p:sp>
      <p:sp>
        <p:nvSpPr>
          <p:cNvPr id="4" name="box-Browser"/>
          <p:cNvSpPr/>
          <p:nvPr/>
        </p:nvSpPr>
        <p:spPr>
          <a:xfrm>
            <a:off x="813816" y="2468880"/>
            <a:ext cx="2011680" cy="822960"/>
          </a:xfrm>
          <a:prstGeom prst="roundRect">
            <a:avLst>
              <a:gd name="adj" fmla="val 13333"/>
            </a:avLst>
          </a:prstGeom>
          <a:solidFill>
            <a:schemeClr val="bg1"/>
          </a:solidFill>
          <a:ln w="9525">
            <a:solidFill>
              <a:srgbClr val="DDD8CD"/>
            </a:solidFill>
            <a:prstDash val="solid"/>
          </a:ln>
        </p:spPr>
      </p:sp>
      <p:sp>
        <p:nvSpPr>
          <p:cNvPr id="5" name="Text 3"/>
          <p:cNvSpPr txBox="1"/>
          <p:nvPr/>
        </p:nvSpPr>
        <p:spPr>
          <a:xfrm>
            <a:off x="1042416" y="2587752"/>
            <a:ext cx="1554480" cy="329184"/>
          </a:xfrm>
          <a:prstGeom prst="rect">
            <a:avLst/>
          </a:prstGeom>
          <a:noFill/>
          <a:ln/>
        </p:spPr>
        <p:txBody>
          <a:bodyPr wrap="square" lIns="0" tIns="0" rIns="0" bIns="0" rtlCol="0" anchor="t"/>
          <a:lstStyle/>
          <a:p>
            <a:pPr indent="0" marL="0">
              <a:buNone/>
            </a:pPr>
            <a:r>
              <a:rPr lang="en-US" sz="1600" b="1" dirty="0">
                <a:solidFill>
                  <a:schemeClr val="tx1"/>
                </a:solidFill>
              </a:rPr>
              <a:t>Browser</a:t>
            </a:r>
            <a:endParaRPr lang="en-US" sz="1600" dirty="0"/>
          </a:p>
        </p:txBody>
      </p:sp>
      <p:sp>
        <p:nvSpPr>
          <p:cNvPr id="6" name="box-NGINX Ingress"/>
          <p:cNvSpPr/>
          <p:nvPr/>
        </p:nvSpPr>
        <p:spPr>
          <a:xfrm>
            <a:off x="813816" y="3474720"/>
            <a:ext cx="2011680" cy="822960"/>
          </a:xfrm>
          <a:prstGeom prst="roundRect">
            <a:avLst>
              <a:gd name="adj" fmla="val 13333"/>
            </a:avLst>
          </a:prstGeom>
          <a:solidFill>
            <a:schemeClr val="tx1"/>
          </a:solidFill>
          <a:ln/>
        </p:spPr>
      </p:sp>
      <p:sp>
        <p:nvSpPr>
          <p:cNvPr id="7" name="Text 5"/>
          <p:cNvSpPr txBox="1"/>
          <p:nvPr/>
        </p:nvSpPr>
        <p:spPr>
          <a:xfrm>
            <a:off x="1042416" y="3593592"/>
            <a:ext cx="1554480" cy="329184"/>
          </a:xfrm>
          <a:prstGeom prst="rect">
            <a:avLst/>
          </a:prstGeom>
          <a:noFill/>
          <a:ln/>
        </p:spPr>
        <p:txBody>
          <a:bodyPr wrap="square" lIns="0" tIns="0" rIns="0" bIns="0" rtlCol="0" anchor="t"/>
          <a:lstStyle/>
          <a:p>
            <a:pPr indent="0" marL="0">
              <a:buNone/>
            </a:pPr>
            <a:r>
              <a:rPr lang="en-US" sz="1600" b="1" dirty="0">
                <a:solidFill>
                  <a:schemeClr val="bg1"/>
                </a:solidFill>
              </a:rPr>
              <a:t>NGINX Ingress</a:t>
            </a:r>
            <a:endParaRPr lang="en-US" sz="1600" dirty="0"/>
          </a:p>
        </p:txBody>
      </p:sp>
      <p:sp>
        <p:nvSpPr>
          <p:cNvPr id="8" name="Text 6"/>
          <p:cNvSpPr txBox="1"/>
          <p:nvPr/>
        </p:nvSpPr>
        <p:spPr>
          <a:xfrm>
            <a:off x="1042416" y="3931920"/>
            <a:ext cx="1554480" cy="274320"/>
          </a:xfrm>
          <a:prstGeom prst="rect">
            <a:avLst/>
          </a:prstGeom>
          <a:noFill/>
          <a:ln/>
        </p:spPr>
        <p:txBody>
          <a:bodyPr wrap="square" lIns="0" tIns="0" rIns="0" bIns="0" rtlCol="0" anchor="t"/>
          <a:lstStyle/>
          <a:p>
            <a:pPr indent="0" marL="0">
              <a:buNone/>
            </a:pPr>
            <a:r>
              <a:rPr lang="en-US" sz="1300" dirty="0">
                <a:solidFill>
                  <a:schemeClr val="accent4"/>
                </a:solidFill>
              </a:rPr>
              <a:t>routes by path</a:t>
            </a:r>
            <a:endParaRPr lang="en-US" sz="1300" dirty="0"/>
          </a:p>
        </p:txBody>
      </p:sp>
      <p:sp>
        <p:nvSpPr>
          <p:cNvPr id="9" name="Shape 7"/>
          <p:cNvSpPr/>
          <p:nvPr/>
        </p:nvSpPr>
        <p:spPr>
          <a:xfrm>
            <a:off x="2916936" y="3474720"/>
            <a:ext cx="603504" cy="0"/>
          </a:xfrm>
          <a:prstGeom prst="line">
            <a:avLst/>
          </a:prstGeom>
          <a:noFill/>
          <a:ln w="28575">
            <a:solidFill>
              <a:schemeClr val="accent2"/>
            </a:solidFill>
            <a:prstDash val="solid"/>
            <a:tailEnd type="triangle"/>
          </a:ln>
        </p:spPr>
      </p:sp>
      <p:sp>
        <p:nvSpPr>
          <p:cNvPr id="10" name="box-React frontend ×2"/>
          <p:cNvSpPr/>
          <p:nvPr/>
        </p:nvSpPr>
        <p:spPr>
          <a:xfrm>
            <a:off x="3611880" y="1965960"/>
            <a:ext cx="3566160" cy="822960"/>
          </a:xfrm>
          <a:prstGeom prst="roundRect">
            <a:avLst>
              <a:gd name="adj" fmla="val 13333"/>
            </a:avLst>
          </a:prstGeom>
          <a:solidFill>
            <a:schemeClr val="bg1"/>
          </a:solidFill>
          <a:ln w="9525">
            <a:solidFill>
              <a:srgbClr val="DDD8CD"/>
            </a:solidFill>
            <a:prstDash val="solid"/>
          </a:ln>
        </p:spPr>
      </p:sp>
      <p:sp>
        <p:nvSpPr>
          <p:cNvPr id="11" name="Text 9"/>
          <p:cNvSpPr txBox="1"/>
          <p:nvPr/>
        </p:nvSpPr>
        <p:spPr>
          <a:xfrm>
            <a:off x="3840480" y="2084832"/>
            <a:ext cx="3108960" cy="329184"/>
          </a:xfrm>
          <a:prstGeom prst="rect">
            <a:avLst/>
          </a:prstGeom>
          <a:noFill/>
          <a:ln/>
        </p:spPr>
        <p:txBody>
          <a:bodyPr wrap="square" lIns="0" tIns="0" rIns="0" bIns="0" rtlCol="0" anchor="t"/>
          <a:lstStyle/>
          <a:p>
            <a:pPr indent="0" marL="0">
              <a:buNone/>
            </a:pPr>
            <a:r>
              <a:rPr lang="en-US" sz="1600" b="1" dirty="0">
                <a:solidFill>
                  <a:schemeClr val="tx1"/>
                </a:solidFill>
              </a:rPr>
              <a:t>React frontend ×2</a:t>
            </a:r>
            <a:endParaRPr lang="en-US" sz="1600" dirty="0"/>
          </a:p>
        </p:txBody>
      </p:sp>
      <p:sp>
        <p:nvSpPr>
          <p:cNvPr id="12" name="Text 10"/>
          <p:cNvSpPr txBox="1"/>
          <p:nvPr/>
        </p:nvSpPr>
        <p:spPr>
          <a:xfrm>
            <a:off x="3840480" y="2423160"/>
            <a:ext cx="3108960" cy="274320"/>
          </a:xfrm>
          <a:prstGeom prst="rect">
            <a:avLst/>
          </a:prstGeom>
          <a:noFill/>
          <a:ln/>
        </p:spPr>
        <p:txBody>
          <a:bodyPr wrap="square" lIns="0" tIns="0" rIns="0" bIns="0" rtlCol="0" anchor="t"/>
          <a:lstStyle/>
          <a:p>
            <a:pPr indent="0" marL="0">
              <a:buNone/>
            </a:pPr>
            <a:r>
              <a:rPr lang="en-US" sz="1300" dirty="0">
                <a:solidFill>
                  <a:schemeClr val="tx2"/>
                </a:solidFill>
              </a:rPr>
              <a:t>/ → static UI on Nginx</a:t>
            </a:r>
            <a:endParaRPr lang="en-US" sz="1300" dirty="0"/>
          </a:p>
        </p:txBody>
      </p:sp>
      <p:sp>
        <p:nvSpPr>
          <p:cNvPr id="13" name="box-Ingestion + CRUD API ×2"/>
          <p:cNvSpPr/>
          <p:nvPr/>
        </p:nvSpPr>
        <p:spPr>
          <a:xfrm>
            <a:off x="3611880" y="2971800"/>
            <a:ext cx="3566160" cy="822960"/>
          </a:xfrm>
          <a:prstGeom prst="roundRect">
            <a:avLst>
              <a:gd name="adj" fmla="val 13333"/>
            </a:avLst>
          </a:prstGeom>
          <a:solidFill>
            <a:schemeClr val="bg1"/>
          </a:solidFill>
          <a:ln w="9525">
            <a:solidFill>
              <a:srgbClr val="DDD8CD"/>
            </a:solidFill>
            <a:prstDash val="solid"/>
          </a:ln>
        </p:spPr>
      </p:sp>
      <p:sp>
        <p:nvSpPr>
          <p:cNvPr id="14" name="Text 12"/>
          <p:cNvSpPr txBox="1"/>
          <p:nvPr/>
        </p:nvSpPr>
        <p:spPr>
          <a:xfrm>
            <a:off x="3840480" y="3090672"/>
            <a:ext cx="3108960" cy="329184"/>
          </a:xfrm>
          <a:prstGeom prst="rect">
            <a:avLst/>
          </a:prstGeom>
          <a:noFill/>
          <a:ln/>
        </p:spPr>
        <p:txBody>
          <a:bodyPr wrap="square" lIns="0" tIns="0" rIns="0" bIns="0" rtlCol="0" anchor="t"/>
          <a:lstStyle/>
          <a:p>
            <a:pPr indent="0" marL="0">
              <a:buNone/>
            </a:pPr>
            <a:r>
              <a:rPr lang="en-US" sz="1600" b="1" dirty="0">
                <a:solidFill>
                  <a:schemeClr val="tx1"/>
                </a:solidFill>
              </a:rPr>
              <a:t>Ingestion + CRUD API ×2</a:t>
            </a:r>
            <a:endParaRPr lang="en-US" sz="1600" dirty="0"/>
          </a:p>
        </p:txBody>
      </p:sp>
      <p:sp>
        <p:nvSpPr>
          <p:cNvPr id="15" name="Text 13"/>
          <p:cNvSpPr txBox="1"/>
          <p:nvPr/>
        </p:nvSpPr>
        <p:spPr>
          <a:xfrm>
            <a:off x="3840480" y="3429000"/>
            <a:ext cx="3108960" cy="274320"/>
          </a:xfrm>
          <a:prstGeom prst="rect">
            <a:avLst/>
          </a:prstGeom>
          <a:noFill/>
          <a:ln/>
        </p:spPr>
        <p:txBody>
          <a:bodyPr wrap="square" lIns="0" tIns="0" rIns="0" bIns="0" rtlCol="0" anchor="t"/>
          <a:lstStyle/>
          <a:p>
            <a:pPr indent="0" marL="0">
              <a:buNone/>
            </a:pPr>
            <a:r>
              <a:rPr lang="en-US" sz="1300" dirty="0">
                <a:solidFill>
                  <a:schemeClr val="tx2"/>
                </a:solidFill>
              </a:rPr>
              <a:t>/api/queries · /api/search</a:t>
            </a:r>
            <a:endParaRPr lang="en-US" sz="1300" dirty="0"/>
          </a:p>
        </p:txBody>
      </p:sp>
      <p:sp>
        <p:nvSpPr>
          <p:cNvPr id="16" name="box-Suggestion API ×2"/>
          <p:cNvSpPr/>
          <p:nvPr/>
        </p:nvSpPr>
        <p:spPr>
          <a:xfrm>
            <a:off x="3611880" y="3977640"/>
            <a:ext cx="3566160" cy="822960"/>
          </a:xfrm>
          <a:prstGeom prst="roundRect">
            <a:avLst>
              <a:gd name="adj" fmla="val 13333"/>
            </a:avLst>
          </a:prstGeom>
          <a:solidFill>
            <a:schemeClr val="bg1"/>
          </a:solidFill>
          <a:ln w="9525">
            <a:solidFill>
              <a:srgbClr val="DDD8CD"/>
            </a:solidFill>
            <a:prstDash val="solid"/>
          </a:ln>
        </p:spPr>
      </p:sp>
      <p:sp>
        <p:nvSpPr>
          <p:cNvPr id="17" name="Text 15"/>
          <p:cNvSpPr txBox="1"/>
          <p:nvPr/>
        </p:nvSpPr>
        <p:spPr>
          <a:xfrm>
            <a:off x="3840480" y="4096512"/>
            <a:ext cx="3108960" cy="329184"/>
          </a:xfrm>
          <a:prstGeom prst="rect">
            <a:avLst/>
          </a:prstGeom>
          <a:noFill/>
          <a:ln/>
        </p:spPr>
        <p:txBody>
          <a:bodyPr wrap="square" lIns="0" tIns="0" rIns="0" bIns="0" rtlCol="0" anchor="t"/>
          <a:lstStyle/>
          <a:p>
            <a:pPr indent="0" marL="0">
              <a:buNone/>
            </a:pPr>
            <a:r>
              <a:rPr lang="en-US" sz="1600" b="1" dirty="0">
                <a:solidFill>
                  <a:schemeClr val="tx1"/>
                </a:solidFill>
              </a:rPr>
              <a:t>Suggestion API ×2</a:t>
            </a:r>
            <a:endParaRPr lang="en-US" sz="1600" dirty="0"/>
          </a:p>
        </p:txBody>
      </p:sp>
      <p:sp>
        <p:nvSpPr>
          <p:cNvPr id="18" name="Text 16"/>
          <p:cNvSpPr txBox="1"/>
          <p:nvPr/>
        </p:nvSpPr>
        <p:spPr>
          <a:xfrm>
            <a:off x="3840480" y="4434840"/>
            <a:ext cx="3108960" cy="274320"/>
          </a:xfrm>
          <a:prstGeom prst="rect">
            <a:avLst/>
          </a:prstGeom>
          <a:noFill/>
          <a:ln/>
        </p:spPr>
        <p:txBody>
          <a:bodyPr wrap="square" lIns="0" tIns="0" rIns="0" bIns="0" rtlCol="0" anchor="t"/>
          <a:lstStyle/>
          <a:p>
            <a:pPr indent="0" marL="0">
              <a:buNone/>
            </a:pPr>
            <a:r>
              <a:rPr lang="en-US" sz="1300" dirty="0">
                <a:solidFill>
                  <a:schemeClr val="tx2"/>
                </a:solidFill>
              </a:rPr>
              <a:t>/api/suggest</a:t>
            </a:r>
            <a:endParaRPr lang="en-US" sz="1300" dirty="0"/>
          </a:p>
        </p:txBody>
      </p:sp>
      <p:sp>
        <p:nvSpPr>
          <p:cNvPr id="19" name="Shape 17"/>
          <p:cNvSpPr/>
          <p:nvPr/>
        </p:nvSpPr>
        <p:spPr>
          <a:xfrm>
            <a:off x="7269480" y="3474720"/>
            <a:ext cx="868680" cy="0"/>
          </a:xfrm>
          <a:prstGeom prst="line">
            <a:avLst/>
          </a:prstGeom>
          <a:noFill/>
          <a:ln w="28575">
            <a:solidFill>
              <a:schemeClr val="accent2"/>
            </a:solidFill>
            <a:prstDash val="solid"/>
            <a:tailEnd type="triangle"/>
          </a:ln>
        </p:spPr>
      </p:sp>
      <p:sp>
        <p:nvSpPr>
          <p:cNvPr id="20" name="box-PostgreSQL"/>
          <p:cNvSpPr/>
          <p:nvPr/>
        </p:nvSpPr>
        <p:spPr>
          <a:xfrm>
            <a:off x="8229600" y="1965960"/>
            <a:ext cx="3148279" cy="822960"/>
          </a:xfrm>
          <a:prstGeom prst="roundRect">
            <a:avLst>
              <a:gd name="adj" fmla="val 13333"/>
            </a:avLst>
          </a:prstGeom>
          <a:solidFill>
            <a:schemeClr val="accent5"/>
          </a:solidFill>
          <a:ln/>
        </p:spPr>
      </p:sp>
      <p:sp>
        <p:nvSpPr>
          <p:cNvPr id="21" name="Text 19"/>
          <p:cNvSpPr txBox="1"/>
          <p:nvPr/>
        </p:nvSpPr>
        <p:spPr>
          <a:xfrm>
            <a:off x="8458200" y="2084832"/>
            <a:ext cx="2691079" cy="329184"/>
          </a:xfrm>
          <a:prstGeom prst="rect">
            <a:avLst/>
          </a:prstGeom>
          <a:noFill/>
          <a:ln/>
        </p:spPr>
        <p:txBody>
          <a:bodyPr wrap="square" lIns="0" tIns="0" rIns="0" bIns="0" rtlCol="0" anchor="t"/>
          <a:lstStyle/>
          <a:p>
            <a:pPr indent="0" marL="0">
              <a:buNone/>
            </a:pPr>
            <a:r>
              <a:rPr lang="en-US" sz="1600" b="1" dirty="0">
                <a:solidFill>
                  <a:schemeClr val="tx1"/>
                </a:solidFill>
              </a:rPr>
              <a:t>PostgreSQL</a:t>
            </a:r>
            <a:endParaRPr lang="en-US" sz="1600" dirty="0"/>
          </a:p>
        </p:txBody>
      </p:sp>
      <p:sp>
        <p:nvSpPr>
          <p:cNvPr id="22" name="Text 20"/>
          <p:cNvSpPr txBox="1"/>
          <p:nvPr/>
        </p:nvSpPr>
        <p:spPr>
          <a:xfrm>
            <a:off x="8458200" y="2423160"/>
            <a:ext cx="2691079" cy="274320"/>
          </a:xfrm>
          <a:prstGeom prst="rect">
            <a:avLst/>
          </a:prstGeom>
          <a:noFill/>
          <a:ln/>
        </p:spPr>
        <p:txBody>
          <a:bodyPr wrap="square" lIns="0" tIns="0" rIns="0" bIns="0" rtlCol="0" anchor="t"/>
          <a:lstStyle/>
          <a:p>
            <a:pPr indent="0" marL="0">
              <a:buNone/>
            </a:pPr>
            <a:r>
              <a:rPr lang="en-US" sz="1300" dirty="0">
                <a:solidFill>
                  <a:schemeClr val="tx2"/>
                </a:solidFill>
              </a:rPr>
              <a:t>catalog and counts, PVC</a:t>
            </a:r>
            <a:endParaRPr lang="en-US" sz="1300" dirty="0"/>
          </a:p>
        </p:txBody>
      </p:sp>
      <p:sp>
        <p:nvSpPr>
          <p:cNvPr id="23" name="box-Kafka"/>
          <p:cNvSpPr/>
          <p:nvPr/>
        </p:nvSpPr>
        <p:spPr>
          <a:xfrm>
            <a:off x="8229600" y="2971800"/>
            <a:ext cx="3148279" cy="822960"/>
          </a:xfrm>
          <a:prstGeom prst="roundRect">
            <a:avLst>
              <a:gd name="adj" fmla="val 13333"/>
            </a:avLst>
          </a:prstGeom>
          <a:solidFill>
            <a:schemeClr val="accent5"/>
          </a:solidFill>
          <a:ln/>
        </p:spPr>
      </p:sp>
      <p:sp>
        <p:nvSpPr>
          <p:cNvPr id="24" name="Text 22"/>
          <p:cNvSpPr txBox="1"/>
          <p:nvPr/>
        </p:nvSpPr>
        <p:spPr>
          <a:xfrm>
            <a:off x="8458200" y="3090672"/>
            <a:ext cx="2691079" cy="329184"/>
          </a:xfrm>
          <a:prstGeom prst="rect">
            <a:avLst/>
          </a:prstGeom>
          <a:noFill/>
          <a:ln/>
        </p:spPr>
        <p:txBody>
          <a:bodyPr wrap="square" lIns="0" tIns="0" rIns="0" bIns="0" rtlCol="0" anchor="t"/>
          <a:lstStyle/>
          <a:p>
            <a:pPr indent="0" marL="0">
              <a:buNone/>
            </a:pPr>
            <a:r>
              <a:rPr lang="en-US" sz="1600" b="1" dirty="0">
                <a:solidFill>
                  <a:schemeClr val="tx1"/>
                </a:solidFill>
              </a:rPr>
              <a:t>Kafka</a:t>
            </a:r>
            <a:endParaRPr lang="en-US" sz="1600" dirty="0"/>
          </a:p>
        </p:txBody>
      </p:sp>
      <p:sp>
        <p:nvSpPr>
          <p:cNvPr id="25" name="Text 23"/>
          <p:cNvSpPr txBox="1"/>
          <p:nvPr/>
        </p:nvSpPr>
        <p:spPr>
          <a:xfrm>
            <a:off x="8458200" y="3429000"/>
            <a:ext cx="2691079" cy="274320"/>
          </a:xfrm>
          <a:prstGeom prst="rect">
            <a:avLst/>
          </a:prstGeom>
          <a:noFill/>
          <a:ln/>
        </p:spPr>
        <p:txBody>
          <a:bodyPr wrap="square" lIns="0" tIns="0" rIns="0" bIns="0" rtlCol="0" anchor="t"/>
          <a:lstStyle/>
          <a:p>
            <a:pPr indent="0" marL="0">
              <a:buNone/>
            </a:pPr>
            <a:r>
              <a:rPr lang="en-US" sz="1300" dirty="0">
                <a:solidFill>
                  <a:schemeClr val="tx2"/>
                </a:solidFill>
              </a:rPr>
              <a:t>search events, PVC</a:t>
            </a:r>
            <a:endParaRPr lang="en-US" sz="1300" dirty="0"/>
          </a:p>
        </p:txBody>
      </p:sp>
      <p:sp>
        <p:nvSpPr>
          <p:cNvPr id="26" name="box-Redis"/>
          <p:cNvSpPr/>
          <p:nvPr/>
        </p:nvSpPr>
        <p:spPr>
          <a:xfrm>
            <a:off x="8229600" y="3977640"/>
            <a:ext cx="3148279" cy="822960"/>
          </a:xfrm>
          <a:prstGeom prst="roundRect">
            <a:avLst>
              <a:gd name="adj" fmla="val 13333"/>
            </a:avLst>
          </a:prstGeom>
          <a:solidFill>
            <a:schemeClr val="accent5"/>
          </a:solidFill>
          <a:ln/>
        </p:spPr>
      </p:sp>
      <p:sp>
        <p:nvSpPr>
          <p:cNvPr id="27" name="Text 25"/>
          <p:cNvSpPr txBox="1"/>
          <p:nvPr/>
        </p:nvSpPr>
        <p:spPr>
          <a:xfrm>
            <a:off x="8458200" y="4096512"/>
            <a:ext cx="2691079" cy="329184"/>
          </a:xfrm>
          <a:prstGeom prst="rect">
            <a:avLst/>
          </a:prstGeom>
          <a:noFill/>
          <a:ln/>
        </p:spPr>
        <p:txBody>
          <a:bodyPr wrap="square" lIns="0" tIns="0" rIns="0" bIns="0" rtlCol="0" anchor="t"/>
          <a:lstStyle/>
          <a:p>
            <a:pPr indent="0" marL="0">
              <a:buNone/>
            </a:pPr>
            <a:r>
              <a:rPr lang="en-US" sz="1600" b="1" dirty="0">
                <a:solidFill>
                  <a:schemeClr val="tx1"/>
                </a:solidFill>
              </a:rPr>
              <a:t>Redis</a:t>
            </a:r>
            <a:endParaRPr lang="en-US" sz="1600" dirty="0"/>
          </a:p>
        </p:txBody>
      </p:sp>
      <p:sp>
        <p:nvSpPr>
          <p:cNvPr id="28" name="Text 26"/>
          <p:cNvSpPr txBox="1"/>
          <p:nvPr/>
        </p:nvSpPr>
        <p:spPr>
          <a:xfrm>
            <a:off x="8458200" y="4434840"/>
            <a:ext cx="2691079" cy="274320"/>
          </a:xfrm>
          <a:prstGeom prst="rect">
            <a:avLst/>
          </a:prstGeom>
          <a:noFill/>
          <a:ln/>
        </p:spPr>
        <p:txBody>
          <a:bodyPr wrap="square" lIns="0" tIns="0" rIns="0" bIns="0" rtlCol="0" anchor="t"/>
          <a:lstStyle/>
          <a:p>
            <a:pPr indent="0" marL="0">
              <a:buNone/>
            </a:pPr>
            <a:r>
              <a:rPr lang="en-US" sz="1300" dirty="0">
                <a:solidFill>
                  <a:schemeClr val="tx2"/>
                </a:solidFill>
              </a:rPr>
              <a:t>suggestion cache</a:t>
            </a:r>
            <a:endParaRPr lang="en-US" sz="1300" dirty="0"/>
          </a:p>
        </p:txBody>
      </p:sp>
      <p:sp>
        <p:nvSpPr>
          <p:cNvPr id="29" name="Text 27"/>
          <p:cNvSpPr txBox="1"/>
          <p:nvPr/>
        </p:nvSpPr>
        <p:spPr>
          <a:xfrm>
            <a:off x="813816" y="5166360"/>
            <a:ext cx="10564063" cy="457200"/>
          </a:xfrm>
          <a:prstGeom prst="rect">
            <a:avLst/>
          </a:prstGeom>
          <a:noFill/>
          <a:ln/>
        </p:spPr>
        <p:txBody>
          <a:bodyPr wrap="square" lIns="0" tIns="0" rIns="0" bIns="0" rtlCol="0" anchor="t"/>
          <a:lstStyle/>
          <a:p>
            <a:pPr indent="0" marL="0">
              <a:buNone/>
            </a:pPr>
            <a:r>
              <a:rPr lang="en-US" sz="1600" dirty="0">
                <a:solidFill>
                  <a:schemeClr val="tx2"/>
                </a:solidFill>
              </a:rPr>
              <a:t>Images come from GHCR, Argo CD deploys them from Git, and Prometheus scrapes every backend replica for Grafana.</a:t>
            </a:r>
            <a:endParaRPr lang="en-US" sz="16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API AND TESTS</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tx1"/>
                </a:solidFill>
              </a:rPr>
              <a:t>Seven routes, fifteen tests</a:t>
            </a:r>
            <a:endParaRPr lang="en-US" sz="3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3816" y="1965960"/>
          <a:ext cx="6858000" cy="914400"/>
        </p:xfrm>
        <a:graphic>
          <a:graphicData uri="http://schemas.openxmlformats.org/drawingml/2006/table">
            <a:tbl>
              <a:tblPr/>
              <a:tblGrid>
                <a:gridCol w="1143000"/>
                <a:gridCol w="2743200"/>
                <a:gridCol w="2971800"/>
              </a:tblGrid>
              <a:tr h="402336">
                <a:tc>
                  <a:txBody>
                    <a:bodyPr/>
                    <a:lstStyle/>
                    <a:p>
                      <a:pPr indent="0" marL="0">
                        <a:buNone/>
                      </a:pPr>
                      <a:r>
                        <a:rPr lang="en-US" sz="1400" b="1" dirty="0">
                          <a:solidFill>
                            <a:schemeClr val="bg1"/>
                          </a:solidFill>
                        </a:rPr>
                        <a:t>Method</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Route</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Behaviour</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tx1"/>
                    </a:solidFill>
                  </a:tcPr>
                </a:tc>
              </a:tr>
              <a:tr h="402336">
                <a:tc>
                  <a:txBody>
                    <a:bodyPr/>
                    <a:lstStyle/>
                    <a:p>
                      <a:pPr indent="0" marL="0">
                        <a:buNone/>
                      </a:pPr>
                      <a:r>
                        <a:rPr lang="en-US" sz="1400" dirty="0">
                          <a:solidFill>
                            <a:schemeClr val="tx1"/>
                          </a:solidFill>
                        </a:rPr>
                        <a:t>GET</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/api/queries</a:t>
                      </a:r>
                      <a:endParaRPr lang="en-US" sz="1400" dirty="0">
                        <a:latin typeface="Courier New" charset="0"/>
                        <a:ea typeface="Courier New" charset="0"/>
                        <a:cs typeface="Courier New" charset="0"/>
                      </a:endParaRPr>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List catalog entries</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r>
              <a:tr h="402336">
                <a:tc>
                  <a:txBody>
                    <a:bodyPr/>
                    <a:lstStyle/>
                    <a:p>
                      <a:pPr indent="0" marL="0">
                        <a:buNone/>
                      </a:pPr>
                      <a:r>
                        <a:rPr lang="en-US" sz="1400" dirty="0">
                          <a:solidFill>
                            <a:schemeClr val="tx1"/>
                          </a:solidFill>
                        </a:rPr>
                        <a:t>GET</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/api/queries/{id}</a:t>
                      </a:r>
                      <a:endParaRPr lang="en-US" sz="1400" dirty="0">
                        <a:latin typeface="Courier New" charset="0"/>
                        <a:ea typeface="Courier New" charset="0"/>
                        <a:cs typeface="Courier New" charset="0"/>
                      </a:endParaRPr>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Read one; 404 if absent</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r>
              <a:tr h="402336">
                <a:tc>
                  <a:txBody>
                    <a:bodyPr/>
                    <a:lstStyle/>
                    <a:p>
                      <a:pPr indent="0" marL="0">
                        <a:buNone/>
                      </a:pPr>
                      <a:r>
                        <a:rPr lang="en-US" sz="1400" dirty="0">
                          <a:solidFill>
                            <a:schemeClr val="tx1"/>
                          </a:solidFill>
                        </a:rPr>
                        <a:t>POST</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/api/queries</a:t>
                      </a:r>
                      <a:endParaRPr lang="en-US" sz="1400" dirty="0">
                        <a:latin typeface="Courier New" charset="0"/>
                        <a:ea typeface="Courier New" charset="0"/>
                        <a:cs typeface="Courier New" charset="0"/>
                      </a:endParaRPr>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Create; 201, 409 if duplicate</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r>
              <a:tr h="402336">
                <a:tc>
                  <a:txBody>
                    <a:bodyPr/>
                    <a:lstStyle/>
                    <a:p>
                      <a:pPr indent="0" marL="0">
                        <a:buNone/>
                      </a:pPr>
                      <a:r>
                        <a:rPr lang="en-US" sz="1400" dirty="0">
                          <a:solidFill>
                            <a:schemeClr val="tx1"/>
                          </a:solidFill>
                        </a:rPr>
                        <a:t>PUT</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/api/queries/{id}</a:t>
                      </a:r>
                      <a:endParaRPr lang="en-US" sz="1400" dirty="0">
                        <a:latin typeface="Courier New" charset="0"/>
                        <a:ea typeface="Courier New" charset="0"/>
                        <a:cs typeface="Courier New" charset="0"/>
                      </a:endParaRPr>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Update text and count</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r>
              <a:tr h="402336">
                <a:tc>
                  <a:txBody>
                    <a:bodyPr/>
                    <a:lstStyle/>
                    <a:p>
                      <a:pPr indent="0" marL="0">
                        <a:buNone/>
                      </a:pPr>
                      <a:r>
                        <a:rPr lang="en-US" sz="1400" dirty="0">
                          <a:solidFill>
                            <a:schemeClr val="tx1"/>
                          </a:solidFill>
                        </a:rPr>
                        <a:t>DELETE</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/api/queries/{id}</a:t>
                      </a:r>
                      <a:endParaRPr lang="en-US" sz="1400" dirty="0">
                        <a:latin typeface="Courier New" charset="0"/>
                        <a:ea typeface="Courier New" charset="0"/>
                        <a:cs typeface="Courier New" charset="0"/>
                      </a:endParaRPr>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Delete; 204</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r>
              <a:tr h="402336">
                <a:tc>
                  <a:txBody>
                    <a:bodyPr/>
                    <a:lstStyle/>
                    <a:p>
                      <a:pPr indent="0" marL="0">
                        <a:buNone/>
                      </a:pPr>
                      <a:r>
                        <a:rPr lang="en-US" sz="1400" dirty="0">
                          <a:solidFill>
                            <a:schemeClr val="tx1"/>
                          </a:solidFill>
                        </a:rPr>
                        <a:t>POST</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/api/search</a:t>
                      </a:r>
                      <a:endParaRPr lang="en-US" sz="1400" dirty="0">
                        <a:latin typeface="Courier New" charset="0"/>
                        <a:ea typeface="Courier New" charset="0"/>
                        <a:cs typeface="Courier New" charset="0"/>
                      </a:endParaRPr>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Publish a search event</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r>
              <a:tr h="402336">
                <a:tc>
                  <a:txBody>
                    <a:bodyPr/>
                    <a:lstStyle/>
                    <a:p>
                      <a:pPr indent="0" marL="0">
                        <a:buNone/>
                      </a:pPr>
                      <a:r>
                        <a:rPr lang="en-US" sz="1400" dirty="0">
                          <a:solidFill>
                            <a:schemeClr val="tx1"/>
                          </a:solidFill>
                        </a:rPr>
                        <a:t>GET</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/api/suggest?q=</a:t>
                      </a:r>
                      <a:endParaRPr lang="en-US" sz="1400" dirty="0">
                        <a:latin typeface="Courier New" charset="0"/>
                        <a:ea typeface="Courier New" charset="0"/>
                        <a:cs typeface="Courier New" charset="0"/>
                      </a:endParaRPr>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Ranked suggestions</a:t>
                      </a:r>
                      <a:endParaRPr lang="en-US" sz="14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r>
            </a:tbl>
          </a:graphicData>
        </a:graphic>
      </p:graphicFrame>
      <p:sp>
        <p:nvSpPr>
          <p:cNvPr id="5" name="tests-card"/>
          <p:cNvSpPr/>
          <p:nvPr/>
        </p:nvSpPr>
        <p:spPr>
          <a:xfrm>
            <a:off x="8046720" y="1965960"/>
            <a:ext cx="3331159" cy="3218688"/>
          </a:xfrm>
          <a:prstGeom prst="roundRect">
            <a:avLst>
              <a:gd name="adj" fmla="val 3409"/>
            </a:avLst>
          </a:prstGeom>
          <a:solidFill>
            <a:schemeClr val="tx1"/>
          </a:solidFill>
          <a:ln/>
        </p:spPr>
      </p:sp>
      <p:sp>
        <p:nvSpPr>
          <p:cNvPr id="6" name="Text 3"/>
          <p:cNvSpPr txBox="1"/>
          <p:nvPr/>
        </p:nvSpPr>
        <p:spPr>
          <a:xfrm>
            <a:off x="8412480" y="2194560"/>
            <a:ext cx="2286000" cy="1005840"/>
          </a:xfrm>
          <a:prstGeom prst="rect">
            <a:avLst/>
          </a:prstGeom>
          <a:noFill/>
          <a:ln/>
        </p:spPr>
        <p:txBody>
          <a:bodyPr wrap="square" lIns="0" tIns="0" rIns="0" bIns="0" rtlCol="0" anchor="t"/>
          <a:lstStyle/>
          <a:p>
            <a:pPr indent="0" marL="0">
              <a:buNone/>
            </a:pPr>
            <a:r>
              <a:rPr lang="en-US" sz="6600" b="1" dirty="0">
                <a:solidFill>
                  <a:schemeClr val="accent1"/>
                </a:solidFill>
              </a:rPr>
              <a:t>15</a:t>
            </a:r>
            <a:endParaRPr lang="en-US" sz="6600" dirty="0"/>
          </a:p>
        </p:txBody>
      </p:sp>
      <p:sp>
        <p:nvSpPr>
          <p:cNvPr id="7" name="Text 4"/>
          <p:cNvSpPr txBox="1"/>
          <p:nvPr/>
        </p:nvSpPr>
        <p:spPr>
          <a:xfrm>
            <a:off x="8412480" y="3246120"/>
            <a:ext cx="2599639" cy="914400"/>
          </a:xfrm>
          <a:prstGeom prst="rect">
            <a:avLst/>
          </a:prstGeom>
          <a:noFill/>
          <a:ln/>
        </p:spPr>
        <p:txBody>
          <a:bodyPr wrap="square" lIns="0" tIns="0" rIns="0" bIns="0" rtlCol="0" anchor="t"/>
          <a:lstStyle/>
          <a:p>
            <a:pPr indent="0" marL="0">
              <a:buNone/>
            </a:pPr>
            <a:r>
              <a:rPr lang="en-US" sz="1600" dirty="0">
                <a:solidFill>
                  <a:schemeClr val="bg1"/>
                </a:solidFill>
              </a:rPr>
              <a:t>JUnit tests: 12 controller cases, 2 hash-ring tests, 1 concurrency test</a:t>
            </a:r>
            <a:endParaRPr lang="en-US" sz="1600" dirty="0"/>
          </a:p>
        </p:txBody>
      </p:sp>
      <p:sp>
        <p:nvSpPr>
          <p:cNvPr id="8" name="Text 5"/>
          <p:cNvSpPr txBox="1"/>
          <p:nvPr/>
        </p:nvSpPr>
        <p:spPr>
          <a:xfrm>
            <a:off x="8412480" y="4206240"/>
            <a:ext cx="2599639" cy="731520"/>
          </a:xfrm>
          <a:prstGeom prst="rect">
            <a:avLst/>
          </a:prstGeom>
          <a:noFill/>
          <a:ln/>
        </p:spPr>
        <p:txBody>
          <a:bodyPr wrap="square" lIns="0" tIns="0" rIns="0" bIns="0" rtlCol="0" anchor="t"/>
          <a:lstStyle/>
          <a:p>
            <a:pPr indent="0" marL="0">
              <a:buNone/>
            </a:pPr>
            <a:r>
              <a:rPr lang="en-US" sz="1400" dirty="0">
                <a:solidFill>
                  <a:schemeClr val="accent4"/>
                </a:solidFill>
              </a:rPr>
              <a:t>Plus a smoke test over real PostgreSQL, Kafka and the trie</a:t>
            </a:r>
            <a:endParaRPr lang="en-US" sz="14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CI/CD · GITHUB ACTIONS</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bg1"/>
                </a:solidFill>
              </a:rPr>
              <a:t>Every push runs four gated stages</a:t>
            </a:r>
            <a:endParaRPr lang="en-US" sz="3600" dirty="0"/>
          </a:p>
        </p:txBody>
      </p:sp>
      <p:sp>
        <p:nvSpPr>
          <p:cNvPr id="4" name="stage-Test"/>
          <p:cNvSpPr/>
          <p:nvPr/>
        </p:nvSpPr>
        <p:spPr>
          <a:xfrm>
            <a:off x="813816" y="2011680"/>
            <a:ext cx="2332406" cy="2468880"/>
          </a:xfrm>
          <a:prstGeom prst="roundRect">
            <a:avLst>
              <a:gd name="adj" fmla="val 4704"/>
            </a:avLst>
          </a:prstGeom>
          <a:solidFill>
            <a:schemeClr val="accent3"/>
          </a:solidFill>
          <a:ln/>
        </p:spPr>
      </p:sp>
      <p:sp>
        <p:nvSpPr>
          <p:cNvPr id="5" name="Text 3"/>
          <p:cNvSpPr txBox="1"/>
          <p:nvPr/>
        </p:nvSpPr>
        <p:spPr>
          <a:xfrm>
            <a:off x="1088136" y="2240280"/>
            <a:ext cx="91440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01</a:t>
            </a:r>
            <a:endParaRPr lang="en-US" sz="1400" dirty="0"/>
          </a:p>
        </p:txBody>
      </p:sp>
      <p:sp>
        <p:nvSpPr>
          <p:cNvPr id="6" name="Text 4"/>
          <p:cNvSpPr txBox="1"/>
          <p:nvPr/>
        </p:nvSpPr>
        <p:spPr>
          <a:xfrm>
            <a:off x="1088136" y="2651760"/>
            <a:ext cx="1783766" cy="457200"/>
          </a:xfrm>
          <a:prstGeom prst="rect">
            <a:avLst/>
          </a:prstGeom>
          <a:noFill/>
          <a:ln/>
        </p:spPr>
        <p:txBody>
          <a:bodyPr wrap="square" lIns="0" tIns="0" rIns="0" bIns="0" rtlCol="0" anchor="t"/>
          <a:lstStyle/>
          <a:p>
            <a:pPr indent="0" marL="0">
              <a:buNone/>
            </a:pPr>
            <a:r>
              <a:rPr lang="en-US" sz="2200" b="1" dirty="0">
                <a:solidFill>
                  <a:schemeClr val="bg1"/>
                </a:solidFill>
              </a:rPr>
              <a:t>Test</a:t>
            </a:r>
            <a:endParaRPr lang="en-US" sz="2200" dirty="0"/>
          </a:p>
        </p:txBody>
      </p:sp>
      <p:sp>
        <p:nvSpPr>
          <p:cNvPr id="7" name="Text 5"/>
          <p:cNvSpPr txBox="1"/>
          <p:nvPr/>
        </p:nvSpPr>
        <p:spPr>
          <a:xfrm>
            <a:off x="1088136" y="3200400"/>
            <a:ext cx="1783766" cy="1188720"/>
          </a:xfrm>
          <a:prstGeom prst="rect">
            <a:avLst/>
          </a:prstGeom>
          <a:noFill/>
          <a:ln/>
        </p:spPr>
        <p:txBody>
          <a:bodyPr wrap="square" lIns="0" tIns="0" rIns="0" bIns="0" rtlCol="0" anchor="t"/>
          <a:lstStyle/>
          <a:p>
            <a:pPr indent="0" marL="0">
              <a:lnSpc>
                <a:spcPct val="110000"/>
              </a:lnSpc>
              <a:buNone/>
            </a:pPr>
            <a:r>
              <a:rPr lang="en-US" sz="1500" dirty="0">
                <a:solidFill>
                  <a:schemeClr val="accent4"/>
                </a:solidFill>
              </a:rPr>
              <a:t>Java tests and the frontend build</a:t>
            </a:r>
            <a:endParaRPr lang="en-US" sz="1500" dirty="0"/>
          </a:p>
        </p:txBody>
      </p:sp>
      <p:sp>
        <p:nvSpPr>
          <p:cNvPr id="8" name="Shape 6"/>
          <p:cNvSpPr/>
          <p:nvPr/>
        </p:nvSpPr>
        <p:spPr>
          <a:xfrm>
            <a:off x="3201086" y="3246120"/>
            <a:ext cx="301752" cy="0"/>
          </a:xfrm>
          <a:prstGeom prst="line">
            <a:avLst/>
          </a:prstGeom>
          <a:noFill/>
          <a:ln w="28575">
            <a:solidFill>
              <a:schemeClr val="accent1"/>
            </a:solidFill>
            <a:prstDash val="solid"/>
            <a:tailEnd type="triangle"/>
          </a:ln>
        </p:spPr>
      </p:sp>
      <p:sp>
        <p:nvSpPr>
          <p:cNvPr id="9" name="stage-Scan"/>
          <p:cNvSpPr/>
          <p:nvPr/>
        </p:nvSpPr>
        <p:spPr>
          <a:xfrm>
            <a:off x="3557702" y="2011680"/>
            <a:ext cx="2332406" cy="2468880"/>
          </a:xfrm>
          <a:prstGeom prst="roundRect">
            <a:avLst>
              <a:gd name="adj" fmla="val 4704"/>
            </a:avLst>
          </a:prstGeom>
          <a:solidFill>
            <a:schemeClr val="accent3"/>
          </a:solidFill>
          <a:ln/>
        </p:spPr>
      </p:sp>
      <p:sp>
        <p:nvSpPr>
          <p:cNvPr id="10" name="Text 8"/>
          <p:cNvSpPr txBox="1"/>
          <p:nvPr/>
        </p:nvSpPr>
        <p:spPr>
          <a:xfrm>
            <a:off x="3832022" y="2240280"/>
            <a:ext cx="91440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02</a:t>
            </a:r>
            <a:endParaRPr lang="en-US" sz="1400" dirty="0"/>
          </a:p>
        </p:txBody>
      </p:sp>
      <p:sp>
        <p:nvSpPr>
          <p:cNvPr id="11" name="Text 9"/>
          <p:cNvSpPr txBox="1"/>
          <p:nvPr/>
        </p:nvSpPr>
        <p:spPr>
          <a:xfrm>
            <a:off x="3832022" y="2651760"/>
            <a:ext cx="1783766" cy="457200"/>
          </a:xfrm>
          <a:prstGeom prst="rect">
            <a:avLst/>
          </a:prstGeom>
          <a:noFill/>
          <a:ln/>
        </p:spPr>
        <p:txBody>
          <a:bodyPr wrap="square" lIns="0" tIns="0" rIns="0" bIns="0" rtlCol="0" anchor="t"/>
          <a:lstStyle/>
          <a:p>
            <a:pPr indent="0" marL="0">
              <a:buNone/>
            </a:pPr>
            <a:r>
              <a:rPr lang="en-US" sz="2200" b="1" dirty="0">
                <a:solidFill>
                  <a:schemeClr val="bg1"/>
                </a:solidFill>
              </a:rPr>
              <a:t>Scan</a:t>
            </a:r>
            <a:endParaRPr lang="en-US" sz="2200" dirty="0"/>
          </a:p>
        </p:txBody>
      </p:sp>
      <p:sp>
        <p:nvSpPr>
          <p:cNvPr id="12" name="Text 10"/>
          <p:cNvSpPr txBox="1"/>
          <p:nvPr/>
        </p:nvSpPr>
        <p:spPr>
          <a:xfrm>
            <a:off x="3832022" y="3200400"/>
            <a:ext cx="1783766" cy="1188720"/>
          </a:xfrm>
          <a:prstGeom prst="rect">
            <a:avLst/>
          </a:prstGeom>
          <a:noFill/>
          <a:ln/>
        </p:spPr>
        <p:txBody>
          <a:bodyPr wrap="square" lIns="0" tIns="0" rIns="0" bIns="0" rtlCol="0" anchor="t"/>
          <a:lstStyle/>
          <a:p>
            <a:pPr indent="0" marL="0">
              <a:lnSpc>
                <a:spcPct val="110000"/>
              </a:lnSpc>
              <a:buNone/>
            </a:pPr>
            <a:r>
              <a:rPr lang="en-US" sz="1500" dirty="0">
                <a:solidFill>
                  <a:schemeClr val="accent4"/>
                </a:solidFill>
              </a:rPr>
              <a:t>Semgrep, dependency gate and secret scan</a:t>
            </a:r>
            <a:endParaRPr lang="en-US" sz="1500" dirty="0"/>
          </a:p>
        </p:txBody>
      </p:sp>
      <p:sp>
        <p:nvSpPr>
          <p:cNvPr id="13" name="Shape 11"/>
          <p:cNvSpPr/>
          <p:nvPr/>
        </p:nvSpPr>
        <p:spPr>
          <a:xfrm>
            <a:off x="5944972" y="3246120"/>
            <a:ext cx="301752" cy="0"/>
          </a:xfrm>
          <a:prstGeom prst="line">
            <a:avLst/>
          </a:prstGeom>
          <a:noFill/>
          <a:ln w="28575">
            <a:solidFill>
              <a:schemeClr val="accent1"/>
            </a:solidFill>
            <a:prstDash val="solid"/>
            <a:tailEnd type="triangle"/>
          </a:ln>
        </p:spPr>
      </p:sp>
      <p:sp>
        <p:nvSpPr>
          <p:cNvPr id="14" name="stage-Build"/>
          <p:cNvSpPr/>
          <p:nvPr/>
        </p:nvSpPr>
        <p:spPr>
          <a:xfrm>
            <a:off x="6301588" y="2011680"/>
            <a:ext cx="2332406" cy="2468880"/>
          </a:xfrm>
          <a:prstGeom prst="roundRect">
            <a:avLst>
              <a:gd name="adj" fmla="val 4704"/>
            </a:avLst>
          </a:prstGeom>
          <a:solidFill>
            <a:schemeClr val="accent3"/>
          </a:solidFill>
          <a:ln/>
        </p:spPr>
      </p:sp>
      <p:sp>
        <p:nvSpPr>
          <p:cNvPr id="15" name="Text 13"/>
          <p:cNvSpPr txBox="1"/>
          <p:nvPr/>
        </p:nvSpPr>
        <p:spPr>
          <a:xfrm>
            <a:off x="6575908" y="2240280"/>
            <a:ext cx="91440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03</a:t>
            </a:r>
            <a:endParaRPr lang="en-US" sz="1400" dirty="0"/>
          </a:p>
        </p:txBody>
      </p:sp>
      <p:sp>
        <p:nvSpPr>
          <p:cNvPr id="16" name="Text 14"/>
          <p:cNvSpPr txBox="1"/>
          <p:nvPr/>
        </p:nvSpPr>
        <p:spPr>
          <a:xfrm>
            <a:off x="6575908" y="2651760"/>
            <a:ext cx="1783766" cy="457200"/>
          </a:xfrm>
          <a:prstGeom prst="rect">
            <a:avLst/>
          </a:prstGeom>
          <a:noFill/>
          <a:ln/>
        </p:spPr>
        <p:txBody>
          <a:bodyPr wrap="square" lIns="0" tIns="0" rIns="0" bIns="0" rtlCol="0" anchor="t"/>
          <a:lstStyle/>
          <a:p>
            <a:pPr indent="0" marL="0">
              <a:buNone/>
            </a:pPr>
            <a:r>
              <a:rPr lang="en-US" sz="2200" b="1" dirty="0">
                <a:solidFill>
                  <a:schemeClr val="bg1"/>
                </a:solidFill>
              </a:rPr>
              <a:t>Build</a:t>
            </a:r>
            <a:endParaRPr lang="en-US" sz="2200" dirty="0"/>
          </a:p>
        </p:txBody>
      </p:sp>
      <p:sp>
        <p:nvSpPr>
          <p:cNvPr id="17" name="Text 15"/>
          <p:cNvSpPr txBox="1"/>
          <p:nvPr/>
        </p:nvSpPr>
        <p:spPr>
          <a:xfrm>
            <a:off x="6575908" y="3200400"/>
            <a:ext cx="1783766" cy="1188720"/>
          </a:xfrm>
          <a:prstGeom prst="rect">
            <a:avLst/>
          </a:prstGeom>
          <a:noFill/>
          <a:ln/>
        </p:spPr>
        <p:txBody>
          <a:bodyPr wrap="square" lIns="0" tIns="0" rIns="0" bIns="0" rtlCol="0" anchor="t"/>
          <a:lstStyle/>
          <a:p>
            <a:pPr indent="0" marL="0">
              <a:lnSpc>
                <a:spcPct val="110000"/>
              </a:lnSpc>
              <a:buNone/>
            </a:pPr>
            <a:r>
              <a:rPr lang="en-US" sz="1500" dirty="0">
                <a:solidFill>
                  <a:schemeClr val="accent4"/>
                </a:solidFill>
              </a:rPr>
              <a:t>Three non-root images, Trivy gate, push to GHCR by commit SHA</a:t>
            </a:r>
            <a:endParaRPr lang="en-US" sz="1500" dirty="0"/>
          </a:p>
        </p:txBody>
      </p:sp>
      <p:sp>
        <p:nvSpPr>
          <p:cNvPr id="18" name="Shape 16"/>
          <p:cNvSpPr/>
          <p:nvPr/>
        </p:nvSpPr>
        <p:spPr>
          <a:xfrm>
            <a:off x="8688857" y="3246120"/>
            <a:ext cx="301752" cy="0"/>
          </a:xfrm>
          <a:prstGeom prst="line">
            <a:avLst/>
          </a:prstGeom>
          <a:noFill/>
          <a:ln w="28575">
            <a:solidFill>
              <a:schemeClr val="accent1"/>
            </a:solidFill>
            <a:prstDash val="solid"/>
            <a:tailEnd type="triangle"/>
          </a:ln>
        </p:spPr>
      </p:sp>
      <p:sp>
        <p:nvSpPr>
          <p:cNvPr id="19" name="stage-Deploy"/>
          <p:cNvSpPr/>
          <p:nvPr/>
        </p:nvSpPr>
        <p:spPr>
          <a:xfrm>
            <a:off x="9045473" y="2011680"/>
            <a:ext cx="2332406" cy="2468880"/>
          </a:xfrm>
          <a:prstGeom prst="roundRect">
            <a:avLst>
              <a:gd name="adj" fmla="val 4704"/>
            </a:avLst>
          </a:prstGeom>
          <a:solidFill>
            <a:schemeClr val="accent3"/>
          </a:solidFill>
          <a:ln/>
        </p:spPr>
      </p:sp>
      <p:sp>
        <p:nvSpPr>
          <p:cNvPr id="20" name="Text 18"/>
          <p:cNvSpPr txBox="1"/>
          <p:nvPr/>
        </p:nvSpPr>
        <p:spPr>
          <a:xfrm>
            <a:off x="9319793" y="2240280"/>
            <a:ext cx="91440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04</a:t>
            </a:r>
            <a:endParaRPr lang="en-US" sz="1400" dirty="0"/>
          </a:p>
        </p:txBody>
      </p:sp>
      <p:sp>
        <p:nvSpPr>
          <p:cNvPr id="21" name="Text 19"/>
          <p:cNvSpPr txBox="1"/>
          <p:nvPr/>
        </p:nvSpPr>
        <p:spPr>
          <a:xfrm>
            <a:off x="9319793" y="2651760"/>
            <a:ext cx="1783766" cy="457200"/>
          </a:xfrm>
          <a:prstGeom prst="rect">
            <a:avLst/>
          </a:prstGeom>
          <a:noFill/>
          <a:ln/>
        </p:spPr>
        <p:txBody>
          <a:bodyPr wrap="square" lIns="0" tIns="0" rIns="0" bIns="0" rtlCol="0" anchor="t"/>
          <a:lstStyle/>
          <a:p>
            <a:pPr indent="0" marL="0">
              <a:buNone/>
            </a:pPr>
            <a:r>
              <a:rPr lang="en-US" sz="2200" b="1" dirty="0">
                <a:solidFill>
                  <a:schemeClr val="bg1"/>
                </a:solidFill>
              </a:rPr>
              <a:t>Deploy</a:t>
            </a:r>
            <a:endParaRPr lang="en-US" sz="2200" dirty="0"/>
          </a:p>
        </p:txBody>
      </p:sp>
      <p:sp>
        <p:nvSpPr>
          <p:cNvPr id="22" name="Text 20"/>
          <p:cNvSpPr txBox="1"/>
          <p:nvPr/>
        </p:nvSpPr>
        <p:spPr>
          <a:xfrm>
            <a:off x="9319793" y="3200400"/>
            <a:ext cx="1783766" cy="1188720"/>
          </a:xfrm>
          <a:prstGeom prst="rect">
            <a:avLst/>
          </a:prstGeom>
          <a:noFill/>
          <a:ln/>
        </p:spPr>
        <p:txBody>
          <a:bodyPr wrap="square" lIns="0" tIns="0" rIns="0" bIns="0" rtlCol="0" anchor="t"/>
          <a:lstStyle/>
          <a:p>
            <a:pPr indent="0" marL="0">
              <a:lnSpc>
                <a:spcPct val="110000"/>
              </a:lnSpc>
              <a:buNone/>
            </a:pPr>
            <a:r>
              <a:rPr lang="en-US" sz="1500" dirty="0">
                <a:solidFill>
                  <a:schemeClr val="accent4"/>
                </a:solidFill>
              </a:rPr>
              <a:t>Helm install on a temporary kind cluster, smoke test, delete</a:t>
            </a:r>
            <a:endParaRPr lang="en-US" sz="1500" dirty="0"/>
          </a:p>
        </p:txBody>
      </p:sp>
      <p:sp>
        <p:nvSpPr>
          <p:cNvPr id="23" name="Text 21"/>
          <p:cNvSpPr txBox="1"/>
          <p:nvPr/>
        </p:nvSpPr>
        <p:spPr>
          <a:xfrm>
            <a:off x="813816" y="4846320"/>
            <a:ext cx="10564063" cy="457200"/>
          </a:xfrm>
          <a:prstGeom prst="rect">
            <a:avLst/>
          </a:prstGeom>
          <a:noFill/>
          <a:ln/>
        </p:spPr>
        <p:txBody>
          <a:bodyPr wrap="square" lIns="0" tIns="0" rIns="0" bIns="0" rtlCol="0" anchor="t"/>
          <a:lstStyle/>
          <a:p>
            <a:pPr indent="0" marL="0">
              <a:buNone/>
            </a:pPr>
            <a:r>
              <a:rPr lang="en-US" sz="1600" dirty="0">
                <a:solidFill>
                  <a:schemeClr val="accent4"/>
                </a:solidFill>
              </a:rPr>
              <a:t>A failed stage stops everything after it, so an image that fails a scan is never published or deployed.</a:t>
            </a:r>
            <a:endParaRPr lang="en-US" sz="1600" dirty="0"/>
          </a:p>
        </p:txBody>
      </p:sp>
      <p:sp>
        <p:nvSpPr>
          <p:cNvPr id="24" name="Text 22"/>
          <p:cNvSpPr txBox="1"/>
          <p:nvPr/>
        </p:nvSpPr>
        <p:spPr>
          <a:xfrm>
            <a:off x="813816" y="6291072"/>
            <a:ext cx="7315200" cy="27432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Green release: run 37588149332 · commit 0f8f27c</a:t>
            </a:r>
            <a:endParaRPr lang="en-US" sz="12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9C3D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tx1"/>
                </a:solidFill>
                <a:latin typeface="Courier New" pitchFamily="34" charset="0"/>
                <a:ea typeface="Courier New" pitchFamily="34" charset="-122"/>
                <a:cs typeface="Courier New" pitchFamily="34" charset="-120"/>
              </a:rPr>
              <a:t>DEVSECOPS</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tx1"/>
                </a:solidFill>
              </a:rPr>
              <a:t>The security gates blocked two real releases</a:t>
            </a:r>
            <a:endParaRPr lang="en-US" sz="3600" dirty="0"/>
          </a:p>
        </p:txBody>
      </p:sp>
      <p:sp>
        <p:nvSpPr>
          <p:cNvPr id="4" name="gate-0"/>
          <p:cNvSpPr/>
          <p:nvPr/>
        </p:nvSpPr>
        <p:spPr>
          <a:xfrm>
            <a:off x="813816" y="2011680"/>
            <a:ext cx="5099152" cy="2514600"/>
          </a:xfrm>
          <a:prstGeom prst="roundRect">
            <a:avLst>
              <a:gd name="adj" fmla="val 4364"/>
            </a:avLst>
          </a:prstGeom>
          <a:solidFill>
            <a:schemeClr val="bg2"/>
          </a:solidFill>
          <a:ln/>
        </p:spPr>
      </p:sp>
      <p:sp>
        <p:nvSpPr>
          <p:cNvPr id="5" name="Text 3"/>
          <p:cNvSpPr txBox="1"/>
          <p:nvPr/>
        </p:nvSpPr>
        <p:spPr>
          <a:xfrm>
            <a:off x="1179576" y="2286000"/>
            <a:ext cx="4367632"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DEPENDENCY GATE</a:t>
            </a:r>
            <a:endParaRPr lang="en-US" sz="1200" dirty="0"/>
          </a:p>
        </p:txBody>
      </p:sp>
      <p:sp>
        <p:nvSpPr>
          <p:cNvPr id="6" name="Text 4"/>
          <p:cNvSpPr txBox="1"/>
          <p:nvPr/>
        </p:nvSpPr>
        <p:spPr>
          <a:xfrm>
            <a:off x="1179576" y="2697480"/>
            <a:ext cx="4367632" cy="457200"/>
          </a:xfrm>
          <a:prstGeom prst="rect">
            <a:avLst/>
          </a:prstGeom>
          <a:noFill/>
          <a:ln/>
        </p:spPr>
        <p:txBody>
          <a:bodyPr wrap="square" lIns="0" tIns="0" rIns="0" bIns="0" rtlCol="0" anchor="t"/>
          <a:lstStyle/>
          <a:p>
            <a:pPr indent="0" marL="0">
              <a:buNone/>
            </a:pPr>
            <a:r>
              <a:rPr lang="en-US" sz="2200" b="1" dirty="0">
                <a:solidFill>
                  <a:schemeClr val="tx1"/>
                </a:solidFill>
              </a:rPr>
              <a:t>Critical Spring MVC CVE</a:t>
            </a:r>
            <a:endParaRPr lang="en-US" sz="2200" dirty="0"/>
          </a:p>
        </p:txBody>
      </p:sp>
      <p:sp>
        <p:nvSpPr>
          <p:cNvPr id="7" name="Text 5"/>
          <p:cNvSpPr txBox="1"/>
          <p:nvPr/>
        </p:nvSpPr>
        <p:spPr>
          <a:xfrm>
            <a:off x="1179576" y="3246120"/>
            <a:ext cx="4367632" cy="1097280"/>
          </a:xfrm>
          <a:prstGeom prst="rect">
            <a:avLst/>
          </a:prstGeom>
          <a:noFill/>
          <a:ln/>
        </p:spPr>
        <p:txBody>
          <a:bodyPr wrap="square" lIns="0" tIns="0" rIns="0" bIns="0" rtlCol="0" anchor="t"/>
          <a:lstStyle/>
          <a:p>
            <a:pPr indent="0" marL="0">
              <a:lnSpc>
                <a:spcPct val="110000"/>
              </a:lnSpc>
              <a:buNone/>
            </a:pPr>
            <a:r>
              <a:rPr lang="en-US" sz="1600" dirty="0">
                <a:solidFill>
                  <a:schemeClr val="tx2"/>
                </a:solidFill>
              </a:rPr>
              <a:t>No fix existed on Spring 6, so I upgraded to Spring Boot 4.1.1, then patched Tomcat and Jackson.</a:t>
            </a:r>
            <a:endParaRPr lang="en-US" sz="1600" dirty="0"/>
          </a:p>
        </p:txBody>
      </p:sp>
      <p:sp>
        <p:nvSpPr>
          <p:cNvPr id="8" name="gate-1"/>
          <p:cNvSpPr/>
          <p:nvPr/>
        </p:nvSpPr>
        <p:spPr>
          <a:xfrm>
            <a:off x="6278728" y="2011680"/>
            <a:ext cx="5099152" cy="2514600"/>
          </a:xfrm>
          <a:prstGeom prst="roundRect">
            <a:avLst>
              <a:gd name="adj" fmla="val 4364"/>
            </a:avLst>
          </a:prstGeom>
          <a:solidFill>
            <a:schemeClr val="bg2"/>
          </a:solidFill>
          <a:ln/>
        </p:spPr>
      </p:sp>
      <p:sp>
        <p:nvSpPr>
          <p:cNvPr id="9" name="Text 7"/>
          <p:cNvSpPr txBox="1"/>
          <p:nvPr/>
        </p:nvSpPr>
        <p:spPr>
          <a:xfrm>
            <a:off x="6644488" y="2286000"/>
            <a:ext cx="4367632"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IMAGE GATE</a:t>
            </a:r>
            <a:endParaRPr lang="en-US" sz="1200" dirty="0"/>
          </a:p>
        </p:txBody>
      </p:sp>
      <p:sp>
        <p:nvSpPr>
          <p:cNvPr id="10" name="Text 8"/>
          <p:cNvSpPr txBox="1"/>
          <p:nvPr/>
        </p:nvSpPr>
        <p:spPr>
          <a:xfrm>
            <a:off x="6644488" y="2697480"/>
            <a:ext cx="4367632" cy="457200"/>
          </a:xfrm>
          <a:prstGeom prst="rect">
            <a:avLst/>
          </a:prstGeom>
          <a:noFill/>
          <a:ln/>
        </p:spPr>
        <p:txBody>
          <a:bodyPr wrap="square" lIns="0" tIns="0" rIns="0" bIns="0" rtlCol="0" anchor="t"/>
          <a:lstStyle/>
          <a:p>
            <a:pPr indent="0" marL="0">
              <a:buNone/>
            </a:pPr>
            <a:r>
              <a:rPr lang="en-US" sz="2200" b="1" dirty="0">
                <a:solidFill>
                  <a:schemeClr val="tx1"/>
                </a:solidFill>
              </a:rPr>
              <a:t>8 HIGH/CRITICAL in the base image</a:t>
            </a:r>
            <a:endParaRPr lang="en-US" sz="2200" dirty="0"/>
          </a:p>
        </p:txBody>
      </p:sp>
      <p:sp>
        <p:nvSpPr>
          <p:cNvPr id="11" name="Text 9"/>
          <p:cNvSpPr txBox="1"/>
          <p:nvPr/>
        </p:nvSpPr>
        <p:spPr>
          <a:xfrm>
            <a:off x="6644488" y="3246120"/>
            <a:ext cx="4367632" cy="1097280"/>
          </a:xfrm>
          <a:prstGeom prst="rect">
            <a:avLst/>
          </a:prstGeom>
          <a:noFill/>
          <a:ln/>
        </p:spPr>
        <p:txBody>
          <a:bodyPr wrap="square" lIns="0" tIns="0" rIns="0" bIns="0" rtlCol="0" anchor="t"/>
          <a:lstStyle/>
          <a:p>
            <a:pPr indent="0" marL="0">
              <a:lnSpc>
                <a:spcPct val="110000"/>
              </a:lnSpc>
              <a:buNone/>
            </a:pPr>
            <a:r>
              <a:rPr lang="en-US" sz="1600" dirty="0">
                <a:solidFill>
                  <a:schemeClr val="tx2"/>
                </a:solidFill>
              </a:rPr>
              <a:t>Unfixed Debian libraries, so I switched to the Temurin 21 Alpine JRE and kept the non-root user.</a:t>
            </a:r>
            <a:endParaRPr lang="en-US" sz="1600" dirty="0"/>
          </a:p>
        </p:txBody>
      </p:sp>
      <p:sp>
        <p:nvSpPr>
          <p:cNvPr id="12" name="Text 10"/>
          <p:cNvSpPr txBox="1"/>
          <p:nvPr/>
        </p:nvSpPr>
        <p:spPr>
          <a:xfrm>
            <a:off x="813816" y="4937760"/>
            <a:ext cx="10564063" cy="457200"/>
          </a:xfrm>
          <a:prstGeom prst="rect">
            <a:avLst/>
          </a:prstGeom>
          <a:noFill/>
          <a:ln/>
        </p:spPr>
        <p:txBody>
          <a:bodyPr wrap="square" lIns="0" tIns="0" rIns="0" bIns="0" rtlCol="0" anchor="t"/>
          <a:lstStyle/>
          <a:p>
            <a:pPr indent="0" marL="0">
              <a:buNone/>
            </a:pPr>
            <a:r>
              <a:rPr lang="en-US" sz="1800" b="1" dirty="0">
                <a:solidFill>
                  <a:schemeClr val="tx1"/>
                </a:solidFill>
              </a:rPr>
              <a:t>Nothing was suppressed: both fixes passed the same gates.</a:t>
            </a:r>
            <a:endParaRPr lang="en-US" sz="18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10192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KUBERNETES + HELM</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tx1"/>
                </a:solidFill>
              </a:rPr>
              <a:t>One Helm chart deploys the whole stack</a:t>
            </a:r>
            <a:endParaRPr lang="en-US" sz="3600" dirty="0"/>
          </a:p>
        </p:txBody>
      </p:sp>
      <p:sp>
        <p:nvSpPr>
          <p:cNvPr id="4" name="Shape 2"/>
          <p:cNvSpPr/>
          <p:nvPr/>
        </p:nvSpPr>
        <p:spPr>
          <a:xfrm>
            <a:off x="813816" y="1965960"/>
            <a:ext cx="5852160" cy="3291840"/>
          </a:xfrm>
          <a:prstGeom prst="rect">
            <a:avLst/>
          </a:prstGeom>
          <a:solidFill>
            <a:srgbClr val="FFFFFF"/>
          </a:solidFill>
          <a:ln w="9525">
            <a:solidFill>
              <a:srgbClr val="DDD8CD"/>
            </a:solidFill>
            <a:prstDash val="solid"/>
          </a:ln>
        </p:spPr>
      </p:sp>
      <p:pic>
        <p:nvPicPr>
          <p:cNvPr id="5" name="Image 0" descr="Typeahead home page served through the NGINX Ingress, showing the search box and the query catalog">    </p:cNvPr>
          <p:cNvPicPr>
            <a:picLocks noChangeAspect="1"/>
          </p:cNvPicPr>
          <p:nvPr/>
        </p:nvPicPr>
        <p:blipFill>
          <a:blip r:embed="rId1"/>
          <a:srcRect l="0" r="0" t="0" b="0"/>
          <a:stretch/>
        </p:blipFill>
        <p:spPr>
          <a:xfrm>
            <a:off x="813816" y="1965960"/>
            <a:ext cx="5852160" cy="3291840"/>
          </a:xfrm>
          <a:prstGeom prst="rect">
            <a:avLst/>
          </a:prstGeom>
        </p:spPr>
      </p:pic>
      <p:sp>
        <p:nvSpPr>
          <p:cNvPr id="6" name="Text 3"/>
          <p:cNvSpPr txBox="1"/>
          <p:nvPr/>
        </p:nvSpPr>
        <p:spPr>
          <a:xfrm>
            <a:off x="6995160" y="1965960"/>
            <a:ext cx="4382719" cy="32918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2 replicas of each app service</a:t>
            </a:r>
            <a:endParaRPr lang="en-US" sz="1700" dirty="0"/>
          </a:p>
          <a:p>
            <a:pPr marL="342900" indent="-342900">
              <a:spcAft>
                <a:spcPts val="800"/>
              </a:spcAft>
              <a:buSzPct val="100000"/>
              <a:buChar char="•"/>
            </a:pPr>
            <a:r>
              <a:rPr lang="en-US" sz="1700" dirty="0">
                <a:solidFill>
                  <a:schemeClr val="tx1"/>
                </a:solidFill>
              </a:rPr>
              <a:t>Startup, readiness and liveness probes</a:t>
            </a:r>
            <a:endParaRPr lang="en-US" sz="1700" dirty="0"/>
          </a:p>
          <a:p>
            <a:pPr marL="342900" indent="-342900">
              <a:spcAft>
                <a:spcPts val="800"/>
              </a:spcAft>
              <a:buSzPct val="100000"/>
              <a:buChar char="•"/>
            </a:pPr>
            <a:r>
              <a:rPr lang="en-US" sz="1700" dirty="0">
                <a:solidFill>
                  <a:schemeClr val="tx1"/>
                </a:solidFill>
              </a:rPr>
              <a:t>HPA on CPU, 2 to 3 replicas</a:t>
            </a:r>
            <a:endParaRPr lang="en-US" sz="1700" dirty="0"/>
          </a:p>
          <a:p>
            <a:pPr marL="342900" indent="-342900">
              <a:spcAft>
                <a:spcPts val="800"/>
              </a:spcAft>
              <a:buSzPct val="100000"/>
              <a:buChar char="•"/>
            </a:pPr>
            <a:r>
              <a:rPr lang="en-US" sz="1700" dirty="0">
                <a:solidFill>
                  <a:schemeClr val="tx1"/>
                </a:solidFill>
              </a:rPr>
              <a:t>ConfigMap and external Secret</a:t>
            </a:r>
            <a:endParaRPr lang="en-US" sz="1700" dirty="0"/>
          </a:p>
          <a:p>
            <a:pPr marL="342900" indent="-342900">
              <a:spcAft>
                <a:spcPts val="800"/>
              </a:spcAft>
              <a:buSzPct val="100000"/>
              <a:buChar char="•"/>
            </a:pPr>
            <a:r>
              <a:rPr lang="en-US" sz="1700" dirty="0">
                <a:solidFill>
                  <a:schemeClr val="tx1"/>
                </a:solidFill>
              </a:rPr>
              <a:t>Ingress for / and /api</a:t>
            </a:r>
            <a:endParaRPr lang="en-US" sz="1700" dirty="0"/>
          </a:p>
          <a:p>
            <a:pPr marL="342900" indent="-342900">
              <a:spcAft>
                <a:spcPts val="800"/>
              </a:spcAft>
              <a:buSzPct val="100000"/>
              <a:buChar char="•"/>
            </a:pPr>
            <a:r>
              <a:rPr lang="en-US" sz="1700" dirty="0">
                <a:solidFill>
                  <a:schemeClr val="tx1"/>
                </a:solidFill>
              </a:rPr>
              <a:t>PVCs for PostgreSQL and Kafka</a:t>
            </a:r>
            <a:endParaRPr lang="en-US" sz="1700" dirty="0"/>
          </a:p>
          <a:p>
            <a:pPr marL="342900" indent="-342900">
              <a:spcAft>
                <a:spcPts val="800"/>
              </a:spcAft>
              <a:buSzPct val="100000"/>
              <a:buChar char="•"/>
            </a:pPr>
            <a:r>
              <a:rPr lang="en-US" sz="1700" dirty="0">
                <a:solidFill>
                  <a:schemeClr val="tx1"/>
                </a:solidFill>
              </a:rPr>
              <a:t>Non-root, read-only filesystems</a:t>
            </a:r>
            <a:endParaRPr lang="en-US" sz="1700" dirty="0"/>
          </a:p>
        </p:txBody>
      </p:sp>
      <p:sp>
        <p:nvSpPr>
          <p:cNvPr id="7" name="Text 4"/>
          <p:cNvSpPr txBox="1"/>
          <p:nvPr/>
        </p:nvSpPr>
        <p:spPr>
          <a:xfrm>
            <a:off x="813816" y="6291072"/>
            <a:ext cx="9692640" cy="274320"/>
          </a:xfrm>
          <a:prstGeom prst="rect">
            <a:avLst/>
          </a:prstGeom>
          <a:noFill/>
          <a:ln/>
        </p:spPr>
        <p:txBody>
          <a:bodyPr wrap="square" lIns="0" tIns="0" rIns="0" bIns="0" rtlCol="0" anchor="t"/>
          <a:lstStyle/>
          <a:p>
            <a:pPr indent="0" marL="0">
              <a:buNone/>
            </a:pPr>
            <a:r>
              <a:rPr lang="en-US" sz="1200" dirty="0">
                <a:solidFill>
                  <a:srgbClr val="6B7280"/>
                </a:solidFill>
              </a:rPr>
              <a:t>The app reached through the NGINX Ingress on local Minikube</a:t>
            </a:r>
            <a:endParaRPr lang="en-US" sz="12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LIVE DEMO</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tx1"/>
                </a:solidFill>
              </a:rPr>
              <a:t>Add a query and it shows up in search</a:t>
            </a:r>
            <a:endParaRPr lang="en-US" sz="3600" dirty="0"/>
          </a:p>
        </p:txBody>
      </p:sp>
      <p:sp>
        <p:nvSpPr>
          <p:cNvPr id="4" name="Shape 2"/>
          <p:cNvSpPr/>
          <p:nvPr/>
        </p:nvSpPr>
        <p:spPr>
          <a:xfrm>
            <a:off x="813816" y="1965960"/>
            <a:ext cx="3338474" cy="1877892"/>
          </a:xfrm>
          <a:prstGeom prst="rect">
            <a:avLst/>
          </a:prstGeom>
          <a:solidFill>
            <a:srgbClr val="FFFFFF"/>
          </a:solidFill>
          <a:ln w="9525">
            <a:solidFill>
              <a:srgbClr val="DDD8CD"/>
            </a:solidFill>
            <a:prstDash val="solid"/>
          </a:ln>
        </p:spPr>
      </p:sp>
      <p:pic>
        <p:nvPicPr>
          <p:cNvPr id="5" name="Image 0" descr="Query catalog with the new entry helm rollback added through the form">    </p:cNvPr>
          <p:cNvPicPr>
            <a:picLocks noChangeAspect="1"/>
          </p:cNvPicPr>
          <p:nvPr/>
        </p:nvPicPr>
        <p:blipFill>
          <a:blip r:embed="rId1"/>
          <a:srcRect l="0" r="0" t="0" b="0"/>
          <a:stretch/>
        </p:blipFill>
        <p:spPr>
          <a:xfrm>
            <a:off x="813816" y="1965960"/>
            <a:ext cx="3338474" cy="1877892"/>
          </a:xfrm>
          <a:prstGeom prst="rect">
            <a:avLst/>
          </a:prstGeom>
        </p:spPr>
      </p:pic>
      <p:sp>
        <p:nvSpPr>
          <p:cNvPr id="6" name="Text 3"/>
          <p:cNvSpPr txBox="1"/>
          <p:nvPr/>
        </p:nvSpPr>
        <p:spPr>
          <a:xfrm>
            <a:off x="813816" y="4023360"/>
            <a:ext cx="3338474" cy="411480"/>
          </a:xfrm>
          <a:prstGeom prst="rect">
            <a:avLst/>
          </a:prstGeom>
          <a:noFill/>
          <a:ln/>
        </p:spPr>
        <p:txBody>
          <a:bodyPr wrap="square" lIns="0" tIns="0" rIns="0" bIns="0" rtlCol="0" anchor="t"/>
          <a:lstStyle/>
          <a:p>
            <a:pPr indent="0" marL="0">
              <a:buNone/>
            </a:pPr>
            <a:r>
              <a:rPr lang="en-US" sz="1800" b="1" dirty="0">
                <a:solidFill>
                  <a:schemeClr val="tx1"/>
                </a:solidFill>
              </a:rPr>
              <a:t>1 · Create</a:t>
            </a:r>
            <a:endParaRPr lang="en-US" sz="1800" dirty="0"/>
          </a:p>
        </p:txBody>
      </p:sp>
      <p:sp>
        <p:nvSpPr>
          <p:cNvPr id="7" name="Text 4"/>
          <p:cNvSpPr txBox="1"/>
          <p:nvPr/>
        </p:nvSpPr>
        <p:spPr>
          <a:xfrm>
            <a:off x="813816" y="4480560"/>
            <a:ext cx="3338474" cy="731520"/>
          </a:xfrm>
          <a:prstGeom prst="rect">
            <a:avLst/>
          </a:prstGeom>
          <a:noFill/>
          <a:ln/>
        </p:spPr>
        <p:txBody>
          <a:bodyPr wrap="square" lIns="0" tIns="0" rIns="0" bIns="0" rtlCol="0" anchor="t"/>
          <a:lstStyle/>
          <a:p>
            <a:pPr indent="0" marL="0">
              <a:buNone/>
            </a:pPr>
            <a:r>
              <a:rPr lang="en-US" sz="1500" dirty="0">
                <a:solidFill>
                  <a:schemeClr val="tx2"/>
                </a:solidFill>
              </a:rPr>
              <a:t>“helm rollback” added through the catalog form, then edited</a:t>
            </a:r>
            <a:endParaRPr lang="en-US" sz="1500" dirty="0"/>
          </a:p>
        </p:txBody>
      </p:sp>
      <p:sp>
        <p:nvSpPr>
          <p:cNvPr id="8" name="Shape 5"/>
          <p:cNvSpPr/>
          <p:nvPr/>
        </p:nvSpPr>
        <p:spPr>
          <a:xfrm>
            <a:off x="4426610" y="1965960"/>
            <a:ext cx="3338474" cy="1877892"/>
          </a:xfrm>
          <a:prstGeom prst="rect">
            <a:avLst/>
          </a:prstGeom>
          <a:solidFill>
            <a:srgbClr val="FFFFFF"/>
          </a:solidFill>
          <a:ln w="9525">
            <a:solidFill>
              <a:srgbClr val="DDD8CD"/>
            </a:solidFill>
            <a:prstDash val="solid"/>
          </a:ln>
        </p:spPr>
      </p:sp>
      <p:pic>
        <p:nvPicPr>
          <p:cNvPr id="9" name="Image 1" descr="Typing helm in the search box shows helm rollback as a suggestion">    </p:cNvPr>
          <p:cNvPicPr>
            <a:picLocks noChangeAspect="1"/>
          </p:cNvPicPr>
          <p:nvPr/>
        </p:nvPicPr>
        <p:blipFill>
          <a:blip r:embed="rId2"/>
          <a:srcRect l="0" r="0" t="0" b="0"/>
          <a:stretch/>
        </p:blipFill>
        <p:spPr>
          <a:xfrm>
            <a:off x="4426610" y="1965960"/>
            <a:ext cx="3338474" cy="1877892"/>
          </a:xfrm>
          <a:prstGeom prst="rect">
            <a:avLst/>
          </a:prstGeom>
        </p:spPr>
      </p:pic>
      <p:sp>
        <p:nvSpPr>
          <p:cNvPr id="10" name="Text 6"/>
          <p:cNvSpPr txBox="1"/>
          <p:nvPr/>
        </p:nvSpPr>
        <p:spPr>
          <a:xfrm>
            <a:off x="4426610" y="4023360"/>
            <a:ext cx="3338474" cy="411480"/>
          </a:xfrm>
          <a:prstGeom prst="rect">
            <a:avLst/>
          </a:prstGeom>
          <a:noFill/>
          <a:ln/>
        </p:spPr>
        <p:txBody>
          <a:bodyPr wrap="square" lIns="0" tIns="0" rIns="0" bIns="0" rtlCol="0" anchor="t"/>
          <a:lstStyle/>
          <a:p>
            <a:pPr indent="0" marL="0">
              <a:buNone/>
            </a:pPr>
            <a:r>
              <a:rPr lang="en-US" sz="1800" b="1" dirty="0">
                <a:solidFill>
                  <a:schemeClr val="tx1"/>
                </a:solidFill>
              </a:rPr>
              <a:t>2 · Suggested</a:t>
            </a:r>
            <a:endParaRPr lang="en-US" sz="1800" dirty="0"/>
          </a:p>
        </p:txBody>
      </p:sp>
      <p:sp>
        <p:nvSpPr>
          <p:cNvPr id="11" name="Text 7"/>
          <p:cNvSpPr txBox="1"/>
          <p:nvPr/>
        </p:nvSpPr>
        <p:spPr>
          <a:xfrm>
            <a:off x="4426610" y="4480560"/>
            <a:ext cx="3338474" cy="731520"/>
          </a:xfrm>
          <a:prstGeom prst="rect">
            <a:avLst/>
          </a:prstGeom>
          <a:noFill/>
          <a:ln/>
        </p:spPr>
        <p:txBody>
          <a:bodyPr wrap="square" lIns="0" tIns="0" rIns="0" bIns="0" rtlCol="0" anchor="t"/>
          <a:lstStyle/>
          <a:p>
            <a:pPr indent="0" marL="0">
              <a:buNone/>
            </a:pPr>
            <a:r>
              <a:rPr lang="en-US" sz="1500" dirty="0">
                <a:solidFill>
                  <a:schemeClr val="tx2"/>
                </a:solidFill>
              </a:rPr>
              <a:t>Seconds later it appears as a live suggestion</a:t>
            </a:r>
            <a:endParaRPr lang="en-US" sz="1500" dirty="0"/>
          </a:p>
        </p:txBody>
      </p:sp>
      <p:sp>
        <p:nvSpPr>
          <p:cNvPr id="12" name="Shape 8"/>
          <p:cNvSpPr/>
          <p:nvPr/>
        </p:nvSpPr>
        <p:spPr>
          <a:xfrm>
            <a:off x="8039405" y="1965960"/>
            <a:ext cx="3338474" cy="1877892"/>
          </a:xfrm>
          <a:prstGeom prst="rect">
            <a:avLst/>
          </a:prstGeom>
          <a:solidFill>
            <a:srgbClr val="FFFFFF"/>
          </a:solidFill>
          <a:ln w="9525">
            <a:solidFill>
              <a:srgbClr val="DDD8CD"/>
            </a:solidFill>
            <a:prstDash val="solid"/>
          </a:ln>
        </p:spPr>
      </p:sp>
      <p:pic>
        <p:nvPicPr>
          <p:cNvPr id="13" name="Image 2" descr="The same app at a 390 by 844 phone viewport showing suggestions for doc">    </p:cNvPr>
          <p:cNvPicPr>
            <a:picLocks noChangeAspect="1"/>
          </p:cNvPicPr>
          <p:nvPr/>
        </p:nvPicPr>
        <p:blipFill>
          <a:blip r:embed="rId3"/>
          <a:srcRect l="0" r="0" t="0" b="0"/>
          <a:stretch/>
        </p:blipFill>
        <p:spPr>
          <a:xfrm>
            <a:off x="8039405" y="1965960"/>
            <a:ext cx="3338474" cy="1877892"/>
          </a:xfrm>
          <a:prstGeom prst="rect">
            <a:avLst/>
          </a:prstGeom>
        </p:spPr>
      </p:pic>
      <p:sp>
        <p:nvSpPr>
          <p:cNvPr id="14" name="Text 9"/>
          <p:cNvSpPr txBox="1"/>
          <p:nvPr/>
        </p:nvSpPr>
        <p:spPr>
          <a:xfrm>
            <a:off x="8039405" y="4023360"/>
            <a:ext cx="3338474" cy="411480"/>
          </a:xfrm>
          <a:prstGeom prst="rect">
            <a:avLst/>
          </a:prstGeom>
          <a:noFill/>
          <a:ln/>
        </p:spPr>
        <p:txBody>
          <a:bodyPr wrap="square" lIns="0" tIns="0" rIns="0" bIns="0" rtlCol="0" anchor="t"/>
          <a:lstStyle/>
          <a:p>
            <a:pPr indent="0" marL="0">
              <a:buNone/>
            </a:pPr>
            <a:r>
              <a:rPr lang="en-US" sz="1800" b="1" dirty="0">
                <a:solidFill>
                  <a:schemeClr val="tx1"/>
                </a:solidFill>
              </a:rPr>
              <a:t>3 · Responsive</a:t>
            </a:r>
            <a:endParaRPr lang="en-US" sz="1800" dirty="0"/>
          </a:p>
        </p:txBody>
      </p:sp>
      <p:sp>
        <p:nvSpPr>
          <p:cNvPr id="15" name="Text 10"/>
          <p:cNvSpPr txBox="1"/>
          <p:nvPr/>
        </p:nvSpPr>
        <p:spPr>
          <a:xfrm>
            <a:off x="8039405" y="4480560"/>
            <a:ext cx="3338474" cy="731520"/>
          </a:xfrm>
          <a:prstGeom prst="rect">
            <a:avLst/>
          </a:prstGeom>
          <a:noFill/>
          <a:ln/>
        </p:spPr>
        <p:txBody>
          <a:bodyPr wrap="square" lIns="0" tIns="0" rIns="0" bIns="0" rtlCol="0" anchor="t"/>
          <a:lstStyle/>
          <a:p>
            <a:pPr indent="0" marL="0">
              <a:buNone/>
            </a:pPr>
            <a:r>
              <a:rPr lang="en-US" sz="1500" dirty="0">
                <a:solidFill>
                  <a:schemeClr val="tx2"/>
                </a:solidFill>
              </a:rPr>
              <a:t>Same deployment at a 390 × 844 phone width</a:t>
            </a:r>
            <a:endParaRPr lang="en-US" sz="1500" dirty="0"/>
          </a:p>
        </p:txBody>
      </p:sp>
      <p:sp>
        <p:nvSpPr>
          <p:cNvPr id="16" name="Text 11"/>
          <p:cNvSpPr txBox="1"/>
          <p:nvPr/>
        </p:nvSpPr>
        <p:spPr>
          <a:xfrm>
            <a:off x="813816" y="6291072"/>
            <a:ext cx="9692640" cy="274320"/>
          </a:xfrm>
          <a:prstGeom prst="rect">
            <a:avLst/>
          </a:prstGeom>
          <a:noFill/>
          <a:ln/>
        </p:spPr>
        <p:txBody>
          <a:bodyPr wrap="square" lIns="0" tIns="0" rIns="0" bIns="0" rtlCol="0" anchor="t"/>
          <a:lstStyle/>
          <a:p>
            <a:pPr indent="0" marL="0">
              <a:buNone/>
            </a:pPr>
            <a:r>
              <a:rPr lang="en-US" sz="1200" dirty="0">
                <a:solidFill>
                  <a:srgbClr val="6B7280"/>
                </a:solidFill>
              </a:rPr>
              <a:t>Frames from the 90-second browser walkthrough: demo/browser-walkthrough.mp4</a:t>
            </a:r>
            <a:endParaRPr lang="en-US" sz="12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MONITORING</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tx1"/>
                </a:solidFill>
              </a:rPr>
              <a:t>Every replica scraped, every request counted</a:t>
            </a:r>
            <a:endParaRPr lang="en-US" sz="3600" dirty="0"/>
          </a:p>
        </p:txBody>
      </p:sp>
      <p:sp>
        <p:nvSpPr>
          <p:cNvPr id="4" name="Shape 2"/>
          <p:cNvSpPr/>
          <p:nvPr/>
        </p:nvSpPr>
        <p:spPr>
          <a:xfrm>
            <a:off x="813816" y="1920240"/>
            <a:ext cx="5144872" cy="2893990"/>
          </a:xfrm>
          <a:prstGeom prst="rect">
            <a:avLst/>
          </a:prstGeom>
          <a:solidFill>
            <a:srgbClr val="FFFFFF"/>
          </a:solidFill>
          <a:ln w="9525">
            <a:solidFill>
              <a:srgbClr val="DDD8CD"/>
            </a:solidFill>
            <a:prstDash val="solid"/>
          </a:ln>
        </p:spPr>
      </p:sp>
      <p:pic>
        <p:nvPicPr>
          <p:cNvPr id="5" name="Image 0" descr="Prometheus target health: ingestion 2 of 2 up and suggestion 2 of 2 up">    </p:cNvPr>
          <p:cNvPicPr>
            <a:picLocks noChangeAspect="1"/>
          </p:cNvPicPr>
          <p:nvPr/>
        </p:nvPicPr>
        <p:blipFill>
          <a:blip r:embed="rId1"/>
          <a:srcRect l="0" r="0" t="0" b="0"/>
          <a:stretch/>
        </p:blipFill>
        <p:spPr>
          <a:xfrm>
            <a:off x="813816" y="1920240"/>
            <a:ext cx="5144872" cy="2893990"/>
          </a:xfrm>
          <a:prstGeom prst="rect">
            <a:avLst/>
          </a:prstGeom>
        </p:spPr>
      </p:pic>
      <p:sp>
        <p:nvSpPr>
          <p:cNvPr id="6" name="Shape 3"/>
          <p:cNvSpPr/>
          <p:nvPr/>
        </p:nvSpPr>
        <p:spPr>
          <a:xfrm>
            <a:off x="6233008" y="1920240"/>
            <a:ext cx="5144872" cy="2893990"/>
          </a:xfrm>
          <a:prstGeom prst="rect">
            <a:avLst/>
          </a:prstGeom>
          <a:solidFill>
            <a:srgbClr val="181B1F"/>
          </a:solidFill>
          <a:ln w="9525">
            <a:solidFill>
              <a:srgbClr val="DDD8CD"/>
            </a:solidFill>
            <a:prstDash val="solid"/>
          </a:ln>
        </p:spPr>
      </p:sp>
      <p:pic>
        <p:nvPicPr>
          <p:cNvPr id="7" name="Image 1" descr="Grafana Typeahead capstone dashboard with request rate, mean latency, JVM heap and replica scrape health panels">    </p:cNvPr>
          <p:cNvPicPr>
            <a:picLocks noChangeAspect="1"/>
          </p:cNvPicPr>
          <p:nvPr/>
        </p:nvPicPr>
        <p:blipFill>
          <a:blip r:embed="rId2"/>
          <a:srcRect l="0" r="0" t="0" b="0"/>
          <a:stretch/>
        </p:blipFill>
        <p:spPr>
          <a:xfrm>
            <a:off x="6233008" y="1920240"/>
            <a:ext cx="5144872" cy="2893990"/>
          </a:xfrm>
          <a:prstGeom prst="rect">
            <a:avLst/>
          </a:prstGeom>
        </p:spPr>
      </p:pic>
      <p:sp>
        <p:nvSpPr>
          <p:cNvPr id="8" name="Text 4"/>
          <p:cNvSpPr txBox="1"/>
          <p:nvPr/>
        </p:nvSpPr>
        <p:spPr>
          <a:xfrm>
            <a:off x="813816" y="5029200"/>
            <a:ext cx="10564063" cy="457200"/>
          </a:xfrm>
          <a:prstGeom prst="rect">
            <a:avLst/>
          </a:prstGeom>
          <a:noFill/>
          <a:ln/>
        </p:spPr>
        <p:txBody>
          <a:bodyPr wrap="square" lIns="0" tIns="0" rIns="0" bIns="0" rtlCol="0" anchor="ctr"/>
          <a:lstStyle/>
          <a:p>
            <a:pPr indent="0" marL="0">
              <a:buNone/>
            </a:pPr>
            <a:r>
              <a:rPr lang="en-US" sz="1700" b="1" dirty="0">
                <a:solidFill>
                  <a:schemeClr val="tx2"/>
                </a:solidFill>
              </a:rPr>
              <a:t>120,415 requests</a:t>
            </a:r>
            <a:pPr indent="0" marL="0">
              <a:buNone/>
            </a:pPr>
            <a:r>
              <a:rPr lang="en-US" sz="1700" dirty="0">
                <a:solidFill>
                  <a:schemeClr val="tx2"/>
                </a:solidFill>
              </a:rPr>
              <a:t> from 16 clients in 80 s with zero failures · the suggestion HPA scaled </a:t>
            </a:r>
            <a:pPr indent="0" marL="0">
              <a:buNone/>
            </a:pPr>
            <a:r>
              <a:rPr lang="en-US" sz="1700" b="1" dirty="0">
                <a:solidFill>
                  <a:schemeClr val="tx2"/>
                </a:solidFill>
              </a:rPr>
              <a:t>2 → 3 → 2</a:t>
            </a:r>
            <a:endParaRPr lang="en-US" sz="1700" dirty="0"/>
          </a:p>
        </p:txBody>
      </p:sp>
      <p:sp>
        <p:nvSpPr>
          <p:cNvPr id="9" name="Text 5"/>
          <p:cNvSpPr txBox="1"/>
          <p:nvPr/>
        </p:nvSpPr>
        <p:spPr>
          <a:xfrm>
            <a:off x="813816" y="6291072"/>
            <a:ext cx="9692640" cy="274320"/>
          </a:xfrm>
          <a:prstGeom prst="rect">
            <a:avLst/>
          </a:prstGeom>
          <a:noFill/>
          <a:ln/>
        </p:spPr>
        <p:txBody>
          <a:bodyPr wrap="square" lIns="0" tIns="0" rIns="0" bIns="0" rtlCol="0" anchor="t"/>
          <a:lstStyle/>
          <a:p>
            <a:pPr indent="0" marL="0">
              <a:buNone/>
            </a:pPr>
            <a:r>
              <a:rPr lang="en-US" sz="1200" dirty="0">
                <a:solidFill>
                  <a:srgbClr val="6B7280"/>
                </a:solidFill>
              </a:rPr>
              <a:t>Left: Prometheus targets, 4 of 4 UP · Right: Grafana dashboard</a:t>
            </a:r>
            <a:endParaRPr lang="en-US" sz="12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GITOPS · ARGO CD</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tx1"/>
                </a:solidFill>
              </a:rPr>
              <a:t>Git decides what runs, Argo CD enforces it</a:t>
            </a:r>
            <a:endParaRPr lang="en-US" sz="3600" dirty="0"/>
          </a:p>
        </p:txBody>
      </p:sp>
      <p:sp>
        <p:nvSpPr>
          <p:cNvPr id="4" name="Text 2"/>
          <p:cNvSpPr txBox="1"/>
          <p:nvPr/>
        </p:nvSpPr>
        <p:spPr>
          <a:xfrm>
            <a:off x="813816" y="1965960"/>
            <a:ext cx="365760" cy="457200"/>
          </a:xfrm>
          <a:prstGeom prst="rect">
            <a:avLst/>
          </a:prstGeom>
          <a:noFill/>
          <a:ln/>
        </p:spPr>
        <p:txBody>
          <a:bodyPr wrap="square" lIns="0" tIns="0" rIns="0" bIns="0" rtlCol="0" anchor="t"/>
          <a:lstStyle/>
          <a:p>
            <a:pPr indent="0" marL="0">
              <a:buNone/>
            </a:pPr>
            <a:r>
              <a:rPr lang="en-US" sz="1600" b="1" dirty="0">
                <a:solidFill>
                  <a:schemeClr val="accent2"/>
                </a:solidFill>
                <a:latin typeface="Courier New" pitchFamily="34" charset="0"/>
                <a:ea typeface="Courier New" pitchFamily="34" charset="-122"/>
                <a:cs typeface="Courier New" pitchFamily="34" charset="-120"/>
              </a:rPr>
              <a:t>1</a:t>
            </a:r>
            <a:endParaRPr lang="en-US" sz="1600" dirty="0"/>
          </a:p>
        </p:txBody>
      </p:sp>
      <p:sp>
        <p:nvSpPr>
          <p:cNvPr id="5" name="Text 3"/>
          <p:cNvSpPr txBox="1"/>
          <p:nvPr/>
        </p:nvSpPr>
        <p:spPr>
          <a:xfrm>
            <a:off x="1225296" y="1965960"/>
            <a:ext cx="4846320" cy="502920"/>
          </a:xfrm>
          <a:prstGeom prst="rect">
            <a:avLst/>
          </a:prstGeom>
          <a:noFill/>
          <a:ln/>
        </p:spPr>
        <p:txBody>
          <a:bodyPr wrap="square" lIns="0" tIns="0" rIns="0" bIns="0" rtlCol="0" anchor="t"/>
          <a:lstStyle/>
          <a:p>
            <a:pPr indent="0" marL="0">
              <a:buNone/>
            </a:pPr>
            <a:r>
              <a:rPr lang="en-US" sz="1600" dirty="0">
                <a:solidFill>
                  <a:schemeClr val="tx1"/>
                </a:solidFill>
              </a:rPr>
              <a:t>CI publishes images tagged with the commit SHA</a:t>
            </a:r>
            <a:endParaRPr lang="en-US" sz="1600" dirty="0"/>
          </a:p>
        </p:txBody>
      </p:sp>
      <p:sp>
        <p:nvSpPr>
          <p:cNvPr id="6" name="Text 4"/>
          <p:cNvSpPr txBox="1"/>
          <p:nvPr/>
        </p:nvSpPr>
        <p:spPr>
          <a:xfrm>
            <a:off x="813816" y="2532888"/>
            <a:ext cx="365760" cy="457200"/>
          </a:xfrm>
          <a:prstGeom prst="rect">
            <a:avLst/>
          </a:prstGeom>
          <a:noFill/>
          <a:ln/>
        </p:spPr>
        <p:txBody>
          <a:bodyPr wrap="square" lIns="0" tIns="0" rIns="0" bIns="0" rtlCol="0" anchor="t"/>
          <a:lstStyle/>
          <a:p>
            <a:pPr indent="0" marL="0">
              <a:buNone/>
            </a:pPr>
            <a:r>
              <a:rPr lang="en-US" sz="1600" b="1" dirty="0">
                <a:solidFill>
                  <a:schemeClr val="accent2"/>
                </a:solidFill>
                <a:latin typeface="Courier New" pitchFamily="34" charset="0"/>
                <a:ea typeface="Courier New" pitchFamily="34" charset="-122"/>
                <a:cs typeface="Courier New" pitchFamily="34" charset="-120"/>
              </a:rPr>
              <a:t>2</a:t>
            </a:r>
            <a:endParaRPr lang="en-US" sz="1600" dirty="0"/>
          </a:p>
        </p:txBody>
      </p:sp>
      <p:sp>
        <p:nvSpPr>
          <p:cNvPr id="7" name="Text 5"/>
          <p:cNvSpPr txBox="1"/>
          <p:nvPr/>
        </p:nvSpPr>
        <p:spPr>
          <a:xfrm>
            <a:off x="1225296" y="2532888"/>
            <a:ext cx="4846320" cy="502920"/>
          </a:xfrm>
          <a:prstGeom prst="rect">
            <a:avLst/>
          </a:prstGeom>
          <a:noFill/>
          <a:ln/>
        </p:spPr>
        <p:txBody>
          <a:bodyPr wrap="square" lIns="0" tIns="0" rIns="0" bIns="0" rtlCol="0" anchor="t"/>
          <a:lstStyle/>
          <a:p>
            <a:pPr indent="0" marL="0">
              <a:buNone/>
            </a:pPr>
            <a:r>
              <a:rPr lang="en-US" sz="1600" dirty="0">
                <a:solidFill>
                  <a:schemeClr val="tx1"/>
                </a:solidFill>
              </a:rPr>
              <a:t>A promotion commit sets that SHA in gitops/values.yaml</a:t>
            </a:r>
            <a:endParaRPr lang="en-US" sz="1600" dirty="0"/>
          </a:p>
        </p:txBody>
      </p:sp>
      <p:sp>
        <p:nvSpPr>
          <p:cNvPr id="8" name="Text 6"/>
          <p:cNvSpPr txBox="1"/>
          <p:nvPr/>
        </p:nvSpPr>
        <p:spPr>
          <a:xfrm>
            <a:off x="813816" y="3099816"/>
            <a:ext cx="365760" cy="457200"/>
          </a:xfrm>
          <a:prstGeom prst="rect">
            <a:avLst/>
          </a:prstGeom>
          <a:noFill/>
          <a:ln/>
        </p:spPr>
        <p:txBody>
          <a:bodyPr wrap="square" lIns="0" tIns="0" rIns="0" bIns="0" rtlCol="0" anchor="t"/>
          <a:lstStyle/>
          <a:p>
            <a:pPr indent="0" marL="0">
              <a:buNone/>
            </a:pPr>
            <a:r>
              <a:rPr lang="en-US" sz="1600" b="1" dirty="0">
                <a:solidFill>
                  <a:schemeClr val="accent2"/>
                </a:solidFill>
                <a:latin typeface="Courier New" pitchFamily="34" charset="0"/>
                <a:ea typeface="Courier New" pitchFamily="34" charset="-122"/>
                <a:cs typeface="Courier New" pitchFamily="34" charset="-120"/>
              </a:rPr>
              <a:t>3</a:t>
            </a:r>
            <a:endParaRPr lang="en-US" sz="1600" dirty="0"/>
          </a:p>
        </p:txBody>
      </p:sp>
      <p:sp>
        <p:nvSpPr>
          <p:cNvPr id="9" name="Text 7"/>
          <p:cNvSpPr txBox="1"/>
          <p:nvPr/>
        </p:nvSpPr>
        <p:spPr>
          <a:xfrm>
            <a:off x="1225296" y="3099816"/>
            <a:ext cx="4846320" cy="502920"/>
          </a:xfrm>
          <a:prstGeom prst="rect">
            <a:avLst/>
          </a:prstGeom>
          <a:noFill/>
          <a:ln/>
        </p:spPr>
        <p:txBody>
          <a:bodyPr wrap="square" lIns="0" tIns="0" rIns="0" bIns="0" rtlCol="0" anchor="t"/>
          <a:lstStyle/>
          <a:p>
            <a:pPr indent="0" marL="0">
              <a:buNone/>
            </a:pPr>
            <a:r>
              <a:rPr lang="en-US" sz="1600" dirty="0">
                <a:solidFill>
                  <a:schemeClr val="tx1"/>
                </a:solidFill>
              </a:rPr>
              <a:t>Argo CD syncs it automatically, with prune and self-heal</a:t>
            </a:r>
            <a:endParaRPr lang="en-US" sz="1600" dirty="0"/>
          </a:p>
        </p:txBody>
      </p:sp>
      <p:sp>
        <p:nvSpPr>
          <p:cNvPr id="10" name="Text 8"/>
          <p:cNvSpPr txBox="1"/>
          <p:nvPr/>
        </p:nvSpPr>
        <p:spPr>
          <a:xfrm>
            <a:off x="813816" y="3666744"/>
            <a:ext cx="365760" cy="457200"/>
          </a:xfrm>
          <a:prstGeom prst="rect">
            <a:avLst/>
          </a:prstGeom>
          <a:noFill/>
          <a:ln/>
        </p:spPr>
        <p:txBody>
          <a:bodyPr wrap="square" lIns="0" tIns="0" rIns="0" bIns="0" rtlCol="0" anchor="t"/>
          <a:lstStyle/>
          <a:p>
            <a:pPr indent="0" marL="0">
              <a:buNone/>
            </a:pPr>
            <a:r>
              <a:rPr lang="en-US" sz="1600" b="1" dirty="0">
                <a:solidFill>
                  <a:schemeClr val="accent2"/>
                </a:solidFill>
                <a:latin typeface="Courier New" pitchFamily="34" charset="0"/>
                <a:ea typeface="Courier New" pitchFamily="34" charset="-122"/>
                <a:cs typeface="Courier New" pitchFamily="34" charset="-120"/>
              </a:rPr>
              <a:t>4</a:t>
            </a:r>
            <a:endParaRPr lang="en-US" sz="1600" dirty="0"/>
          </a:p>
        </p:txBody>
      </p:sp>
      <p:sp>
        <p:nvSpPr>
          <p:cNvPr id="11" name="Text 9"/>
          <p:cNvSpPr txBox="1"/>
          <p:nvPr/>
        </p:nvSpPr>
        <p:spPr>
          <a:xfrm>
            <a:off x="1225296" y="3666744"/>
            <a:ext cx="4846320" cy="502920"/>
          </a:xfrm>
          <a:prstGeom prst="rect">
            <a:avLst/>
          </a:prstGeom>
          <a:noFill/>
          <a:ln/>
        </p:spPr>
        <p:txBody>
          <a:bodyPr wrap="square" lIns="0" tIns="0" rIns="0" bIns="0" rtlCol="0" anchor="t"/>
          <a:lstStyle/>
          <a:p>
            <a:pPr indent="0" marL="0">
              <a:buNone/>
            </a:pPr>
            <a:r>
              <a:rPr lang="en-US" sz="1600" dirty="0">
                <a:solidFill>
                  <a:schemeClr val="tx1"/>
                </a:solidFill>
              </a:rPr>
              <a:t>The app’s /info endpoint reports the same SHA</a:t>
            </a:r>
            <a:endParaRPr lang="en-US" sz="1600" dirty="0"/>
          </a:p>
        </p:txBody>
      </p:sp>
      <p:sp>
        <p:nvSpPr>
          <p:cNvPr id="12" name="drift-callout"/>
          <p:cNvSpPr/>
          <p:nvPr/>
        </p:nvSpPr>
        <p:spPr>
          <a:xfrm>
            <a:off x="813816" y="4343400"/>
            <a:ext cx="5257800" cy="868680"/>
          </a:xfrm>
          <a:prstGeom prst="roundRect">
            <a:avLst>
              <a:gd name="adj" fmla="val 12632"/>
            </a:avLst>
          </a:prstGeom>
          <a:solidFill>
            <a:schemeClr val="tx1"/>
          </a:solidFill>
          <a:ln/>
        </p:spPr>
      </p:sp>
      <p:sp>
        <p:nvSpPr>
          <p:cNvPr id="13" name="Text 11"/>
          <p:cNvSpPr txBox="1"/>
          <p:nvPr/>
        </p:nvSpPr>
        <p:spPr>
          <a:xfrm>
            <a:off x="1088136" y="4343400"/>
            <a:ext cx="4754880" cy="868680"/>
          </a:xfrm>
          <a:prstGeom prst="rect">
            <a:avLst/>
          </a:prstGeom>
          <a:noFill/>
          <a:ln/>
        </p:spPr>
        <p:txBody>
          <a:bodyPr wrap="square" lIns="0" tIns="0" rIns="0" bIns="0" rtlCol="0" anchor="ctr"/>
          <a:lstStyle/>
          <a:p>
            <a:pPr indent="0" marL="0">
              <a:buNone/>
            </a:pPr>
            <a:r>
              <a:rPr lang="en-US" sz="1600" dirty="0">
                <a:solidFill>
                  <a:schemeClr val="bg1"/>
                </a:solidFill>
              </a:rPr>
              <a:t>A hand-edited Service selector was reverted to Git in </a:t>
            </a:r>
            <a:pPr indent="0" marL="0">
              <a:buNone/>
            </a:pPr>
            <a:r>
              <a:rPr lang="en-US" sz="1600" b="1" dirty="0">
                <a:solidFill>
                  <a:schemeClr val="accent1"/>
                </a:solidFill>
              </a:rPr>
              <a:t>2.09 s</a:t>
            </a:r>
            <a:endParaRPr lang="en-US" sz="1600" dirty="0"/>
          </a:p>
        </p:txBody>
      </p:sp>
      <p:sp>
        <p:nvSpPr>
          <p:cNvPr id="14" name="Shape 12"/>
          <p:cNvSpPr/>
          <p:nvPr/>
        </p:nvSpPr>
        <p:spPr>
          <a:xfrm>
            <a:off x="6355080" y="1965960"/>
            <a:ext cx="5022799" cy="2825325"/>
          </a:xfrm>
          <a:prstGeom prst="rect">
            <a:avLst/>
          </a:prstGeom>
          <a:solidFill>
            <a:srgbClr val="FFFFFF"/>
          </a:solidFill>
          <a:ln w="9525">
            <a:solidFill>
              <a:srgbClr val="DDD8CD"/>
            </a:solidFill>
            <a:prstDash val="solid"/>
          </a:ln>
        </p:spPr>
      </p:sp>
      <p:pic>
        <p:nvPicPr>
          <p:cNvPr id="15" name="Image 0" descr="Argo CD application typeahead-capstone, Healthy and Synced with Sync OK, resource tree below">    </p:cNvPr>
          <p:cNvPicPr>
            <a:picLocks noChangeAspect="1"/>
          </p:cNvPicPr>
          <p:nvPr/>
        </p:nvPicPr>
        <p:blipFill>
          <a:blip r:embed="rId1"/>
          <a:srcRect l="0" r="0" t="0" b="0"/>
          <a:stretch/>
        </p:blipFill>
        <p:spPr>
          <a:xfrm>
            <a:off x="6355080" y="1965960"/>
            <a:ext cx="5022799" cy="2825325"/>
          </a:xfrm>
          <a:prstGeom prst="rect">
            <a:avLst/>
          </a:prstGeom>
        </p:spPr>
      </p:pic>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TROUBLESHOOTING CHALLENGE</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tx1"/>
                </a:solidFill>
              </a:rPr>
              <a:t>Four faults, injected and fixed</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3816" y="1965960"/>
          <a:ext cx="10564063" cy="914400"/>
        </p:xfrm>
        <a:graphic>
          <a:graphicData uri="http://schemas.openxmlformats.org/drawingml/2006/table">
            <a:tbl>
              <a:tblPr/>
              <a:tblGrid>
                <a:gridCol w="2514600"/>
                <a:gridCol w="2514600"/>
                <a:gridCol w="3291840"/>
                <a:gridCol w="2240280"/>
              </a:tblGrid>
              <a:tr h="566928">
                <a:tc>
                  <a:txBody>
                    <a:bodyPr/>
                    <a:lstStyle/>
                    <a:p>
                      <a:pPr indent="0" marL="0">
                        <a:buNone/>
                      </a:pPr>
                      <a:r>
                        <a:rPr lang="en-US" sz="1500" b="1" dirty="0">
                          <a:solidFill>
                            <a:schemeClr val="bg1"/>
                          </a:solidFill>
                        </a:rPr>
                        <a:t>Fault</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I saw</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Root cause and fix</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Verified</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tx1"/>
                          </a:solidFill>
                        </a:rPr>
                        <a:t>Kafka DNS missing at startup</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No resolvable bootstrap URLs</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Worker thread died; added a bounded retry</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Recovered with no restart</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Wrong Service selector</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500" dirty="0">
                          <a:solidFill>
                            <a:schemeClr val="tx1"/>
                          </a:solidFill>
                        </a:rPr>
                        <a:t>Ingress 503, no endpoints</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500" dirty="0">
                          <a:solidFill>
                            <a:schemeClr val="tx1"/>
                          </a:solidFill>
                        </a:rPr>
                        <a:t>Selector matched no pods; restored the label</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500" dirty="0">
                          <a:solidFill>
                            <a:schemeClr val="tx1"/>
                          </a:solidFill>
                        </a:rPr>
                        <a:t>Same route back to 200</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r>
              <a:tr h="566928">
                <a:tc>
                  <a:txBody>
                    <a:bodyPr/>
                    <a:lstStyle/>
                    <a:p>
                      <a:pPr indent="0" marL="0">
                        <a:buNone/>
                      </a:pPr>
                      <a:r>
                        <a:rPr lang="en-US" sz="1500" dirty="0">
                          <a:solidFill>
                            <a:schemeClr val="tx1"/>
                          </a:solidFill>
                        </a:rPr>
                        <a:t>PostgreSQL pod deleted</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StatefulSet made a new pod</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Checked it mounted the same PVC</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Saved row still read 17</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Hand edit drifted from Git</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500" dirty="0">
                          <a:solidFill>
                            <a:schemeClr val="tx1"/>
                          </a:solidFill>
                        </a:rPr>
                        <a:t>Selector changed live</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500" dirty="0">
                          <a:solidFill>
                            <a:schemeClr val="tx1"/>
                          </a:solidFill>
                        </a:rPr>
                        <a:t>Argo CD self-heal applied Git</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c>
                  <a:txBody>
                    <a:bodyPr/>
                    <a:lstStyle/>
                    <a:p>
                      <a:pPr indent="0" marL="0">
                        <a:buNone/>
                      </a:pPr>
                      <a:r>
                        <a:rPr lang="en-US" sz="1500" dirty="0">
                          <a:solidFill>
                            <a:schemeClr val="tx1"/>
                          </a:solidFill>
                        </a:rPr>
                        <a:t>Restored in 2.09 s</a:t>
                      </a:r>
                      <a:endParaRPr lang="en-US" sz="1500" dirty="0"/>
                    </a:p>
                  </a:txBody>
                  <a:tcPr marL="109728" marR="109728" marT="0" marB="0" anchor="ctr">
                    <a:lnL w="9525" cap="flat" cmpd="sng" algn="ctr">
                      <a:solidFill>
                        <a:srgbClr val="DDD8CD"/>
                      </a:solidFill>
                      <a:prstDash val="solid"/>
                      <a:round/>
                      <a:headEnd type="none" w="med" len="med"/>
                      <a:tailEnd type="none" w="med" len="med"/>
                    </a:lnL>
                    <a:lnR w="9525" cap="flat" cmpd="sng" algn="ctr">
                      <a:solidFill>
                        <a:srgbClr val="DDD8CD"/>
                      </a:solidFill>
                      <a:prstDash val="solid"/>
                      <a:round/>
                      <a:headEnd type="none" w="med" len="med"/>
                      <a:tailEnd type="none" w="med" len="med"/>
                    </a:lnR>
                    <a:lnT w="9525" cap="flat" cmpd="sng" algn="ctr">
                      <a:solidFill>
                        <a:srgbClr val="DDD8CD"/>
                      </a:solidFill>
                      <a:prstDash val="solid"/>
                      <a:round/>
                      <a:headEnd type="none" w="med" len="med"/>
                      <a:tailEnd type="none" w="med" len="med"/>
                    </a:lnT>
                    <a:lnB w="9525" cap="flat" cmpd="sng" algn="ctr">
                      <a:solidFill>
                        <a:srgbClr val="DDD8CD"/>
                      </a:solidFill>
                      <a:prstDash val="solid"/>
                      <a:round/>
                      <a:headEnd type="none" w="med" len="med"/>
                      <a:tailEnd type="none" w="med" len="med"/>
                    </a:lnB>
                    <a:solidFill>
                      <a:schemeClr val="accent5"/>
                    </a:solidFill>
                  </a:tcPr>
                </a:tc>
              </a:tr>
            </a:tbl>
          </a:graphicData>
        </a:graphic>
      </p:graphicFrame>
      <p:sp>
        <p:nvSpPr>
          <p:cNvPr id="5" name="Text 2"/>
          <p:cNvSpPr txBox="1"/>
          <p:nvPr/>
        </p:nvSpPr>
        <p:spPr>
          <a:xfrm>
            <a:off x="813816" y="5120640"/>
            <a:ext cx="10564063" cy="457200"/>
          </a:xfrm>
          <a:prstGeom prst="rect">
            <a:avLst/>
          </a:prstGeom>
          <a:noFill/>
          <a:ln/>
        </p:spPr>
        <p:txBody>
          <a:bodyPr wrap="square" lIns="0" tIns="0" rIns="0" bIns="0" rtlCol="0" anchor="t"/>
          <a:lstStyle/>
          <a:p>
            <a:pPr indent="0" marL="0">
              <a:buNone/>
            </a:pPr>
            <a:r>
              <a:rPr lang="en-US" sz="1600" dirty="0">
                <a:solidFill>
                  <a:schemeClr val="tx2"/>
                </a:solidFill>
              </a:rPr>
              <a:t>Each one followed the same loop: identify, check logs and resources, find the root cause, fix, verify.</a:t>
            </a:r>
            <a:endParaRPr lang="en-US" sz="16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TERRAFORM · AWS</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bg1"/>
                </a:solidFill>
              </a:rPr>
              <a:t>The cloud design is planned, not applied</a:t>
            </a:r>
            <a:endParaRPr lang="en-US" sz="3600" dirty="0"/>
          </a:p>
        </p:txBody>
      </p:sp>
      <p:sp>
        <p:nvSpPr>
          <p:cNvPr id="4" name="tf-0"/>
          <p:cNvSpPr/>
          <p:nvPr/>
        </p:nvSpPr>
        <p:spPr>
          <a:xfrm>
            <a:off x="813816" y="1965960"/>
            <a:ext cx="5099152" cy="3291840"/>
          </a:xfrm>
          <a:prstGeom prst="roundRect">
            <a:avLst>
              <a:gd name="adj" fmla="val 3333"/>
            </a:avLst>
          </a:prstGeom>
          <a:solidFill>
            <a:schemeClr val="accent3"/>
          </a:solidFill>
          <a:ln/>
        </p:spPr>
      </p:sp>
      <p:sp>
        <p:nvSpPr>
          <p:cNvPr id="5" name="Text 3"/>
          <p:cNvSpPr txBox="1"/>
          <p:nvPr/>
        </p:nvSpPr>
        <p:spPr>
          <a:xfrm>
            <a:off x="1179576" y="2240280"/>
            <a:ext cx="4367632" cy="457200"/>
          </a:xfrm>
          <a:prstGeom prst="rect">
            <a:avLst/>
          </a:prstGeom>
          <a:noFill/>
          <a:ln/>
        </p:spPr>
        <p:txBody>
          <a:bodyPr wrap="square" lIns="0" tIns="0" rIns="0" bIns="0" rtlCol="0" anchor="t"/>
          <a:lstStyle/>
          <a:p>
            <a:pPr indent="0" marL="0">
              <a:buNone/>
            </a:pPr>
            <a:r>
              <a:rPr lang="en-US" sz="2200" b="1" dirty="0">
                <a:solidFill>
                  <a:schemeClr val="bg1"/>
                </a:solidFill>
              </a:rPr>
              <a:t>What it builds</a:t>
            </a:r>
            <a:endParaRPr lang="en-US" sz="2200" dirty="0"/>
          </a:p>
        </p:txBody>
      </p:sp>
      <p:sp>
        <p:nvSpPr>
          <p:cNvPr id="6" name="Text 4"/>
          <p:cNvSpPr txBox="1"/>
          <p:nvPr/>
        </p:nvSpPr>
        <p:spPr>
          <a:xfrm>
            <a:off x="1179576" y="2834640"/>
            <a:ext cx="4367632"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4"/>
                </a:solidFill>
              </a:rPr>
              <a:t>VPC with two public subnets</a:t>
            </a:r>
            <a:endParaRPr lang="en-US" sz="1600" dirty="0"/>
          </a:p>
          <a:p>
            <a:pPr marL="342900" indent="-342900">
              <a:spcAft>
                <a:spcPts val="800"/>
              </a:spcAft>
              <a:buSzPct val="100000"/>
              <a:buChar char="•"/>
            </a:pPr>
            <a:r>
              <a:rPr lang="en-US" sz="1600" dirty="0">
                <a:solidFill>
                  <a:schemeClr val="accent4"/>
                </a:solidFill>
              </a:rPr>
              <a:t>EKS 1.36 cluster, one managed worker</a:t>
            </a:r>
            <a:endParaRPr lang="en-US" sz="1600" dirty="0"/>
          </a:p>
          <a:p>
            <a:pPr marL="342900" indent="-342900">
              <a:spcAft>
                <a:spcPts val="800"/>
              </a:spcAft>
              <a:buSzPct val="100000"/>
              <a:buChar char="•"/>
            </a:pPr>
            <a:r>
              <a:rPr lang="en-US" sz="1600" dirty="0">
                <a:solidFill>
                  <a:schemeClr val="accent4"/>
                </a:solidFill>
              </a:rPr>
              <a:t>Encrypted gp3 storage via Pod Identity</a:t>
            </a:r>
            <a:endParaRPr lang="en-US" sz="1600" dirty="0"/>
          </a:p>
          <a:p>
            <a:pPr marL="342900" indent="-342900">
              <a:spcAft>
                <a:spcPts val="800"/>
              </a:spcAft>
              <a:buSzPct val="100000"/>
              <a:buChar char="•"/>
            </a:pPr>
            <a:r>
              <a:rPr lang="en-US" sz="1600" dirty="0">
                <a:solidFill>
                  <a:schemeClr val="accent4"/>
                </a:solidFill>
              </a:rPr>
              <a:t>No NAT gateway or load balancer, to keep cost low</a:t>
            </a:r>
            <a:endParaRPr lang="en-US" sz="1600" dirty="0"/>
          </a:p>
        </p:txBody>
      </p:sp>
      <p:sp>
        <p:nvSpPr>
          <p:cNvPr id="7" name="tf-1"/>
          <p:cNvSpPr/>
          <p:nvPr/>
        </p:nvSpPr>
        <p:spPr>
          <a:xfrm>
            <a:off x="6278728" y="1965960"/>
            <a:ext cx="5099152" cy="3291840"/>
          </a:xfrm>
          <a:prstGeom prst="roundRect">
            <a:avLst>
              <a:gd name="adj" fmla="val 3333"/>
            </a:avLst>
          </a:prstGeom>
          <a:solidFill>
            <a:schemeClr val="accent3"/>
          </a:solidFill>
          <a:ln/>
        </p:spPr>
      </p:sp>
      <p:sp>
        <p:nvSpPr>
          <p:cNvPr id="8" name="Text 6"/>
          <p:cNvSpPr txBox="1"/>
          <p:nvPr/>
        </p:nvSpPr>
        <p:spPr>
          <a:xfrm>
            <a:off x="6644488" y="2240280"/>
            <a:ext cx="4367632" cy="457200"/>
          </a:xfrm>
          <a:prstGeom prst="rect">
            <a:avLst/>
          </a:prstGeom>
          <a:noFill/>
          <a:ln/>
        </p:spPr>
        <p:txBody>
          <a:bodyPr wrap="square" lIns="0" tIns="0" rIns="0" bIns="0" rtlCol="0" anchor="t"/>
          <a:lstStyle/>
          <a:p>
            <a:pPr indent="0" marL="0">
              <a:buNone/>
            </a:pPr>
            <a:r>
              <a:rPr lang="en-US" sz="2200" b="1" dirty="0">
                <a:solidFill>
                  <a:schemeClr val="bg1"/>
                </a:solidFill>
              </a:rPr>
              <a:t>Where it stands</a:t>
            </a:r>
            <a:endParaRPr lang="en-US" sz="2200" dirty="0"/>
          </a:p>
        </p:txBody>
      </p:sp>
      <p:sp>
        <p:nvSpPr>
          <p:cNvPr id="9" name="Text 7"/>
          <p:cNvSpPr txBox="1"/>
          <p:nvPr/>
        </p:nvSpPr>
        <p:spPr>
          <a:xfrm>
            <a:off x="6644488" y="2834640"/>
            <a:ext cx="4367632"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4"/>
                </a:solidFill>
              </a:rPr>
              <a:t>init and validate pass</a:t>
            </a:r>
            <a:endParaRPr lang="en-US" sz="1600" dirty="0"/>
          </a:p>
          <a:p>
            <a:pPr marL="342900" indent="-342900">
              <a:spcAft>
                <a:spcPts val="800"/>
              </a:spcAft>
              <a:buSzPct val="100000"/>
              <a:buChar char="•"/>
            </a:pPr>
            <a:r>
              <a:rPr lang="en-US" sz="1600" dirty="0">
                <a:solidFill>
                  <a:schemeClr val="accent4"/>
                </a:solidFill>
              </a:rPr>
              <a:t>plan: 21 resources to add</a:t>
            </a:r>
            <a:endParaRPr lang="en-US" sz="1600" dirty="0"/>
          </a:p>
          <a:p>
            <a:pPr marL="342900" indent="-342900">
              <a:spcAft>
                <a:spcPts val="800"/>
              </a:spcAft>
              <a:buSzPct val="100000"/>
              <a:buChar char="•"/>
            </a:pPr>
            <a:r>
              <a:rPr lang="en-US" sz="1600" dirty="0">
                <a:solidFill>
                  <a:schemeClr val="accent4"/>
                </a:solidFill>
              </a:rPr>
              <a:t>apply and destroy not run: no AWS access</a:t>
            </a:r>
            <a:endParaRPr lang="en-US" sz="1600" dirty="0"/>
          </a:p>
          <a:p>
            <a:pPr marL="342900" indent="-342900">
              <a:spcAft>
                <a:spcPts val="800"/>
              </a:spcAft>
              <a:buSzPct val="100000"/>
              <a:buChar char="•"/>
            </a:pPr>
            <a:r>
              <a:rPr lang="en-US" sz="1600" dirty="0">
                <a:solidFill>
                  <a:schemeClr val="accent4"/>
                </a:solidFill>
              </a:rPr>
              <a:t>Real AWS create/destroy done in Sessions 18–19</a:t>
            </a:r>
            <a:endParaRPr lang="en-US" sz="16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9C3D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LESSONS LEARNED</a:t>
            </a:r>
            <a:endParaRPr lang="en-US" sz="1200" dirty="0"/>
          </a:p>
        </p:txBody>
      </p:sp>
      <p:sp>
        <p:nvSpPr>
          <p:cNvPr id="3" name="Text 0"/>
          <p:cNvSpPr/>
          <p:nvPr>
            <p:ph idx="101" type="title" hasCustomPrompt="1"/>
          </p:nvPr>
        </p:nvSpPr>
        <p:spPr>
          <a:xfrm>
            <a:off x="813816" y="896112"/>
            <a:ext cx="10564063" cy="777240"/>
          </a:xfrm>
          <a:prstGeom prst="rect">
            <a:avLst/>
          </a:prstGeom>
          <a:noFill/>
          <a:ln/>
        </p:spPr>
        <p:txBody>
          <a:bodyPr wrap="square" lIns="0" tIns="0" rIns="0" bIns="0" rtlCol="0" anchor="t"/>
          <a:lstStyle/>
          <a:p>
            <a:pPr algn="l" indent="0" marL="0">
              <a:buNone/>
            </a:pPr>
            <a:r>
              <a:rPr lang="en-US" sz="3600" b="1" dirty="0">
                <a:solidFill>
                  <a:schemeClr val="tx1"/>
                </a:solidFill>
              </a:rPr>
              <a:t>What the project taught me</a:t>
            </a:r>
            <a:endParaRPr lang="en-US" sz="3600" dirty="0"/>
          </a:p>
        </p:txBody>
      </p:sp>
      <p:sp>
        <p:nvSpPr>
          <p:cNvPr id="4" name="lesson-0"/>
          <p:cNvSpPr/>
          <p:nvPr/>
        </p:nvSpPr>
        <p:spPr>
          <a:xfrm>
            <a:off x="813816" y="1965960"/>
            <a:ext cx="5099152" cy="1600200"/>
          </a:xfrm>
          <a:prstGeom prst="roundRect">
            <a:avLst>
              <a:gd name="adj" fmla="val 6857"/>
            </a:avLst>
          </a:prstGeom>
          <a:solidFill>
            <a:schemeClr val="bg1"/>
          </a:solidFill>
          <a:ln w="9525">
            <a:solidFill>
              <a:srgbClr val="DDD8CD"/>
            </a:solidFill>
            <a:prstDash val="solid"/>
          </a:ln>
        </p:spPr>
      </p:sp>
      <p:sp>
        <p:nvSpPr>
          <p:cNvPr id="5" name="Text 3"/>
          <p:cNvSpPr txBox="1"/>
          <p:nvPr/>
        </p:nvSpPr>
        <p:spPr>
          <a:xfrm>
            <a:off x="1179576" y="2240280"/>
            <a:ext cx="4367632" cy="411480"/>
          </a:xfrm>
          <a:prstGeom prst="rect">
            <a:avLst/>
          </a:prstGeom>
          <a:noFill/>
          <a:ln/>
        </p:spPr>
        <p:txBody>
          <a:bodyPr wrap="square" lIns="0" tIns="0" rIns="0" bIns="0" rtlCol="0" anchor="t"/>
          <a:lstStyle/>
          <a:p>
            <a:pPr indent="0" marL="0">
              <a:buNone/>
            </a:pPr>
            <a:r>
              <a:rPr lang="en-US" sz="1900" b="1" dirty="0">
                <a:solidFill>
                  <a:schemeClr val="tx1"/>
                </a:solidFill>
              </a:rPr>
              <a:t>Readiness can deadlock</a:t>
            </a:r>
            <a:endParaRPr lang="en-US" sz="1900" dirty="0"/>
          </a:p>
        </p:txBody>
      </p:sp>
      <p:sp>
        <p:nvSpPr>
          <p:cNvPr id="6" name="Text 4"/>
          <p:cNvSpPr txBox="1"/>
          <p:nvPr/>
        </p:nvSpPr>
        <p:spPr>
          <a:xfrm>
            <a:off x="1179576" y="2715768"/>
            <a:ext cx="4367632" cy="731520"/>
          </a:xfrm>
          <a:prstGeom prst="rect">
            <a:avLst/>
          </a:prstGeom>
          <a:noFill/>
          <a:ln/>
        </p:spPr>
        <p:txBody>
          <a:bodyPr wrap="square" lIns="0" tIns="0" rIns="0" bIns="0" rtlCol="0" anchor="t"/>
          <a:lstStyle/>
          <a:p>
            <a:pPr indent="0" marL="0">
              <a:buNone/>
            </a:pPr>
            <a:r>
              <a:rPr lang="en-US" sz="1500" dirty="0">
                <a:solidFill>
                  <a:schemeClr val="tx2"/>
                </a:solidFill>
              </a:rPr>
              <a:t>Kafka could not resolve its own name until Ready. publishNotReadyAddresses broke the loop.</a:t>
            </a:r>
            <a:endParaRPr lang="en-US" sz="1500" dirty="0"/>
          </a:p>
        </p:txBody>
      </p:sp>
      <p:sp>
        <p:nvSpPr>
          <p:cNvPr id="7" name="lesson-1"/>
          <p:cNvSpPr/>
          <p:nvPr/>
        </p:nvSpPr>
        <p:spPr>
          <a:xfrm>
            <a:off x="6278728" y="1965960"/>
            <a:ext cx="5099152" cy="1600200"/>
          </a:xfrm>
          <a:prstGeom prst="roundRect">
            <a:avLst>
              <a:gd name="adj" fmla="val 6857"/>
            </a:avLst>
          </a:prstGeom>
          <a:solidFill>
            <a:schemeClr val="bg1"/>
          </a:solidFill>
          <a:ln w="9525">
            <a:solidFill>
              <a:srgbClr val="DDD8CD"/>
            </a:solidFill>
            <a:prstDash val="solid"/>
          </a:ln>
        </p:spPr>
      </p:sp>
      <p:sp>
        <p:nvSpPr>
          <p:cNvPr id="8" name="Text 6"/>
          <p:cNvSpPr txBox="1"/>
          <p:nvPr/>
        </p:nvSpPr>
        <p:spPr>
          <a:xfrm>
            <a:off x="6644488" y="2240280"/>
            <a:ext cx="4367632" cy="411480"/>
          </a:xfrm>
          <a:prstGeom prst="rect">
            <a:avLst/>
          </a:prstGeom>
          <a:noFill/>
          <a:ln/>
        </p:spPr>
        <p:txBody>
          <a:bodyPr wrap="square" lIns="0" tIns="0" rIns="0" bIns="0" rtlCol="0" anchor="t"/>
          <a:lstStyle/>
          <a:p>
            <a:pPr indent="0" marL="0">
              <a:buNone/>
            </a:pPr>
            <a:r>
              <a:rPr lang="en-US" sz="1900" b="1" dirty="0">
                <a:solidFill>
                  <a:schemeClr val="tx1"/>
                </a:solidFill>
              </a:rPr>
              <a:t>Background workers must retry</a:t>
            </a:r>
            <a:endParaRPr lang="en-US" sz="1900" dirty="0"/>
          </a:p>
        </p:txBody>
      </p:sp>
      <p:sp>
        <p:nvSpPr>
          <p:cNvPr id="9" name="Text 7"/>
          <p:cNvSpPr txBox="1"/>
          <p:nvPr/>
        </p:nvSpPr>
        <p:spPr>
          <a:xfrm>
            <a:off x="6644488" y="2715768"/>
            <a:ext cx="4367632" cy="731520"/>
          </a:xfrm>
          <a:prstGeom prst="rect">
            <a:avLst/>
          </a:prstGeom>
          <a:noFill/>
          <a:ln/>
        </p:spPr>
        <p:txBody>
          <a:bodyPr wrap="square" lIns="0" tIns="0" rIns="0" bIns="0" rtlCol="0" anchor="t"/>
          <a:lstStyle/>
          <a:p>
            <a:pPr indent="0" marL="0">
              <a:buNone/>
            </a:pPr>
            <a:r>
              <a:rPr lang="en-US" sz="1500" dirty="0">
                <a:solidFill>
                  <a:schemeClr val="tx2"/>
                </a:solidFill>
              </a:rPr>
              <a:t>A consumer that gives up on one DNS error silently stops the whole event path.</a:t>
            </a:r>
            <a:endParaRPr lang="en-US" sz="1500" dirty="0"/>
          </a:p>
        </p:txBody>
      </p:sp>
      <p:sp>
        <p:nvSpPr>
          <p:cNvPr id="10" name="lesson-2"/>
          <p:cNvSpPr/>
          <p:nvPr/>
        </p:nvSpPr>
        <p:spPr>
          <a:xfrm>
            <a:off x="813816" y="3794760"/>
            <a:ext cx="5099152" cy="1600200"/>
          </a:xfrm>
          <a:prstGeom prst="roundRect">
            <a:avLst>
              <a:gd name="adj" fmla="val 6857"/>
            </a:avLst>
          </a:prstGeom>
          <a:solidFill>
            <a:schemeClr val="bg1"/>
          </a:solidFill>
          <a:ln w="9525">
            <a:solidFill>
              <a:srgbClr val="DDD8CD"/>
            </a:solidFill>
            <a:prstDash val="solid"/>
          </a:ln>
        </p:spPr>
      </p:sp>
      <p:sp>
        <p:nvSpPr>
          <p:cNvPr id="11" name="Text 9"/>
          <p:cNvSpPr txBox="1"/>
          <p:nvPr/>
        </p:nvSpPr>
        <p:spPr>
          <a:xfrm>
            <a:off x="1179576" y="4069080"/>
            <a:ext cx="4367632" cy="411480"/>
          </a:xfrm>
          <a:prstGeom prst="rect">
            <a:avLst/>
          </a:prstGeom>
          <a:noFill/>
          <a:ln/>
        </p:spPr>
        <p:txBody>
          <a:bodyPr wrap="square" lIns="0" tIns="0" rIns="0" bIns="0" rtlCol="0" anchor="t"/>
          <a:lstStyle/>
          <a:p>
            <a:pPr indent="0" marL="0">
              <a:buNone/>
            </a:pPr>
            <a:r>
              <a:rPr lang="en-US" sz="1900" b="1" dirty="0">
                <a:solidFill>
                  <a:schemeClr val="tx1"/>
                </a:solidFill>
              </a:rPr>
              <a:t>Scans pay for themselves</a:t>
            </a:r>
            <a:endParaRPr lang="en-US" sz="1900" dirty="0"/>
          </a:p>
        </p:txBody>
      </p:sp>
      <p:sp>
        <p:nvSpPr>
          <p:cNvPr id="12" name="Text 10"/>
          <p:cNvSpPr txBox="1"/>
          <p:nvPr/>
        </p:nvSpPr>
        <p:spPr>
          <a:xfrm>
            <a:off x="1179576" y="4544568"/>
            <a:ext cx="4367632" cy="731520"/>
          </a:xfrm>
          <a:prstGeom prst="rect">
            <a:avLst/>
          </a:prstGeom>
          <a:noFill/>
          <a:ln/>
        </p:spPr>
        <p:txBody>
          <a:bodyPr wrap="square" lIns="0" tIns="0" rIns="0" bIns="0" rtlCol="0" anchor="t"/>
          <a:lstStyle/>
          <a:p>
            <a:pPr indent="0" marL="0">
              <a:buNone/>
            </a:pPr>
            <a:r>
              <a:rPr lang="en-US" sz="1500" dirty="0">
                <a:solidFill>
                  <a:schemeClr val="tx2"/>
                </a:solidFill>
              </a:rPr>
              <a:t>Two releases were blocked, and both were fixed at the source instead of ignored.</a:t>
            </a:r>
            <a:endParaRPr lang="en-US" sz="1500" dirty="0"/>
          </a:p>
        </p:txBody>
      </p:sp>
      <p:sp>
        <p:nvSpPr>
          <p:cNvPr id="13" name="lesson-3"/>
          <p:cNvSpPr/>
          <p:nvPr/>
        </p:nvSpPr>
        <p:spPr>
          <a:xfrm>
            <a:off x="6278728" y="3794760"/>
            <a:ext cx="5099152" cy="1600200"/>
          </a:xfrm>
          <a:prstGeom prst="roundRect">
            <a:avLst>
              <a:gd name="adj" fmla="val 6857"/>
            </a:avLst>
          </a:prstGeom>
          <a:solidFill>
            <a:schemeClr val="bg1"/>
          </a:solidFill>
          <a:ln w="9525">
            <a:solidFill>
              <a:srgbClr val="DDD8CD"/>
            </a:solidFill>
            <a:prstDash val="solid"/>
          </a:ln>
        </p:spPr>
      </p:sp>
      <p:sp>
        <p:nvSpPr>
          <p:cNvPr id="14" name="Text 12"/>
          <p:cNvSpPr txBox="1"/>
          <p:nvPr/>
        </p:nvSpPr>
        <p:spPr>
          <a:xfrm>
            <a:off x="6644488" y="4069080"/>
            <a:ext cx="4367632" cy="411480"/>
          </a:xfrm>
          <a:prstGeom prst="rect">
            <a:avLst/>
          </a:prstGeom>
          <a:noFill/>
          <a:ln/>
        </p:spPr>
        <p:txBody>
          <a:bodyPr wrap="square" lIns="0" tIns="0" rIns="0" bIns="0" rtlCol="0" anchor="t"/>
          <a:lstStyle/>
          <a:p>
            <a:pPr indent="0" marL="0">
              <a:buNone/>
            </a:pPr>
            <a:r>
              <a:rPr lang="en-US" sz="1900" b="1" dirty="0">
                <a:solidFill>
                  <a:schemeClr val="tx1"/>
                </a:solidFill>
              </a:rPr>
              <a:t>Tag by SHA, promote by commit</a:t>
            </a:r>
            <a:endParaRPr lang="en-US" sz="1900" dirty="0"/>
          </a:p>
        </p:txBody>
      </p:sp>
      <p:sp>
        <p:nvSpPr>
          <p:cNvPr id="15" name="Text 13"/>
          <p:cNvSpPr txBox="1"/>
          <p:nvPr/>
        </p:nvSpPr>
        <p:spPr>
          <a:xfrm>
            <a:off x="6644488" y="4544568"/>
            <a:ext cx="4367632" cy="731520"/>
          </a:xfrm>
          <a:prstGeom prst="rect">
            <a:avLst/>
          </a:prstGeom>
          <a:noFill/>
          <a:ln/>
        </p:spPr>
        <p:txBody>
          <a:bodyPr wrap="square" lIns="0" tIns="0" rIns="0" bIns="0" rtlCol="0" anchor="t"/>
          <a:lstStyle/>
          <a:p>
            <a:pPr indent="0" marL="0">
              <a:buNone/>
            </a:pPr>
            <a:r>
              <a:rPr lang="en-US" sz="1500" dirty="0">
                <a:solidFill>
                  <a:schemeClr val="tx2"/>
                </a:solidFill>
              </a:rPr>
              <a:t>I can always say exactly which build is running and how it got there.</a:t>
            </a:r>
            <a:endParaRPr lang="en-US" sz="1500" dirty="0"/>
          </a:p>
        </p:txBody>
      </p:sp>
      <p:sp>
        <p:nvSpPr>
          <p:cNvPr id="25" name="Slide Number Placeholder 0"/>
          <p:cNvSpPr>
            <a:spLocks noGrp="1"/>
          </p:cNvSpPr>
          <p:nvPr>
            <p:ph type="sldNum" sz="quarter" idx="4294967295"/>
          </p:nvPr>
        </p:nvSpPr>
        <p:spPr>
          <a:xfrm>
            <a:off x="11018520" y="6291072"/>
            <a:ext cx="36576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13816" y="1737360"/>
            <a:ext cx="10564063" cy="1097280"/>
          </a:xfrm>
          <a:prstGeom prst="rect">
            <a:avLst/>
          </a:prstGeom>
          <a:noFill/>
          <a:ln/>
        </p:spPr>
        <p:txBody>
          <a:bodyPr wrap="square" lIns="0" tIns="0" rIns="0" bIns="0" rtlCol="0" anchor="t"/>
          <a:lstStyle/>
          <a:p>
            <a:pPr indent="0" marL="0">
              <a:buNone/>
            </a:pPr>
            <a:r>
              <a:rPr lang="en-US" sz="6000" b="1" dirty="0">
                <a:solidFill>
                  <a:schemeClr val="bg1"/>
                </a:solidFill>
              </a:rPr>
              <a:t>Thank you</a:t>
            </a:r>
            <a:endParaRPr lang="en-US" sz="6000" dirty="0"/>
          </a:p>
        </p:txBody>
      </p:sp>
      <p:sp>
        <p:nvSpPr>
          <p:cNvPr id="3" name="Text 1"/>
          <p:cNvSpPr txBox="1"/>
          <p:nvPr/>
        </p:nvSpPr>
        <p:spPr>
          <a:xfrm>
            <a:off x="813816" y="2880360"/>
            <a:ext cx="10564063" cy="548640"/>
          </a:xfrm>
          <a:prstGeom prst="rect">
            <a:avLst/>
          </a:prstGeom>
          <a:noFill/>
          <a:ln/>
        </p:spPr>
        <p:txBody>
          <a:bodyPr wrap="square" lIns="0" tIns="0" rIns="0" bIns="0" rtlCol="0" anchor="t"/>
          <a:lstStyle/>
          <a:p>
            <a:pPr indent="0" marL="0">
              <a:buNone/>
            </a:pPr>
            <a:r>
              <a:rPr lang="en-US" sz="2200" dirty="0">
                <a:solidFill>
                  <a:schemeClr val="accent4"/>
                </a:solidFill>
              </a:rPr>
              <a:t>Questions?</a:t>
            </a:r>
            <a:endParaRPr lang="en-US" sz="2200" dirty="0"/>
          </a:p>
        </p:txBody>
      </p:sp>
      <p:sp>
        <p:nvSpPr>
          <p:cNvPr id="4" name="Text 2"/>
          <p:cNvSpPr txBox="1"/>
          <p:nvPr/>
        </p:nvSpPr>
        <p:spPr>
          <a:xfrm>
            <a:off x="813816" y="3749040"/>
            <a:ext cx="10564063" cy="36576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github.com/vimalyad/typeahead-devops-capstone</a:t>
            </a:r>
            <a:endParaRPr lang="en-US" sz="1600" dirty="0"/>
          </a:p>
        </p:txBody>
      </p:sp>
      <p:sp>
        <p:nvSpPr>
          <p:cNvPr id="5" name="Text 3"/>
          <p:cNvSpPr txBox="1"/>
          <p:nvPr/>
        </p:nvSpPr>
        <p:spPr>
          <a:xfrm>
            <a:off x="813816" y="4160520"/>
            <a:ext cx="10564063" cy="365760"/>
          </a:xfrm>
          <a:prstGeom prst="rect">
            <a:avLst/>
          </a:prstGeom>
          <a:noFill/>
          <a:ln/>
        </p:spPr>
        <p:txBody>
          <a:bodyPr wrap="square" lIns="0" tIns="0" rIns="0" bIns="0" rtlCol="0" anchor="t"/>
          <a:lstStyle/>
          <a:p>
            <a:pPr indent="0" marL="0">
              <a:buNone/>
            </a:pPr>
            <a:r>
              <a:rPr lang="en-US" sz="1500" dirty="0">
                <a:solidFill>
                  <a:schemeClr val="accent4"/>
                </a:solidFill>
              </a:rPr>
              <a:t>demo/ holds this deck, its PDF and the 90-second browser walkthrough</a:t>
            </a:r>
            <a:endParaRPr lang="en-US" sz="1500" dirty="0"/>
          </a:p>
        </p:txBody>
      </p:sp>
      <p:sp>
        <p:nvSpPr>
          <p:cNvPr id="6" name="Text 4"/>
          <p:cNvSpPr txBox="1"/>
          <p:nvPr/>
        </p:nvSpPr>
        <p:spPr>
          <a:xfrm>
            <a:off x="813816" y="4526280"/>
            <a:ext cx="10564063" cy="365760"/>
          </a:xfrm>
          <a:prstGeom prst="rect">
            <a:avLst/>
          </a:prstGeom>
          <a:noFill/>
          <a:ln/>
        </p:spPr>
        <p:txBody>
          <a:bodyPr wrap="square" lIns="0" tIns="0" rIns="0" bIns="0" rtlCol="0" anchor="t"/>
          <a:lstStyle/>
          <a:p>
            <a:pPr indent="0" marL="0">
              <a:buNone/>
            </a:pPr>
            <a:r>
              <a:rPr lang="en-US" sz="1500" dirty="0">
                <a:solidFill>
                  <a:schemeClr val="accent4"/>
                </a:solidFill>
              </a:rPr>
              <a:t>README · browser walkthrough video · commit-to-deploy recording</a:t>
            </a:r>
            <a:endParaRPr lang="en-US" sz="1500" dirty="0"/>
          </a:p>
        </p:txBody>
      </p:sp>
      <p:sp>
        <p:nvSpPr>
          <p:cNvPr id="7" name="Text 5"/>
          <p:cNvSpPr txBox="1"/>
          <p:nvPr/>
        </p:nvSpPr>
        <p:spPr>
          <a:xfrm>
            <a:off x="813816" y="5760720"/>
            <a:ext cx="7315200" cy="365760"/>
          </a:xfrm>
          <a:prstGeom prst="rect">
            <a:avLst/>
          </a:prstGeom>
          <a:noFill/>
          <a:ln/>
        </p:spPr>
        <p:txBody>
          <a:bodyPr wrap="square" lIns="0" tIns="0" rIns="0" bIns="0" rtlCol="0" anchor="t"/>
          <a:lstStyle/>
          <a:p>
            <a:pPr indent="0" marL="0">
              <a:buNone/>
            </a:pPr>
            <a:r>
              <a:rPr lang="en-US" sz="1500" dirty="0">
                <a:solidFill>
                  <a:schemeClr val="accent4"/>
                </a:solidFill>
              </a:rPr>
              <a:t>Vimal Kumar Yadav · 24BCS10273</a:t>
            </a:r>
            <a:endParaRPr lang="en-US" sz="1500" dirty="0"/>
          </a:p>
        </p:txBody>
      </p:sp>
    </p:spTree>
  </p:cSld>
  <p:clrMapOvr>
    <a:masterClrMapping/>
  </p:clrMapOvr>
</p:sld>
</file>

<file path=ppt/theme/theme1.xml><?xml version="1.0" encoding="utf-8"?>
<a:theme xmlns:a="http://schemas.openxmlformats.org/drawingml/2006/main" name="Typeahead Capstone">
  <a:themeElements>
    <a:clrScheme name="Typeahead Capstone">
      <a:dk1>
        <a:srgbClr val="10192B"/>
      </a:dk1>
      <a:lt1>
        <a:srgbClr val="FFFFFF"/>
      </a:lt1>
      <a:dk2>
        <a:srgbClr val="4A5468"/>
      </a:dk2>
      <a:lt2>
        <a:srgbClr val="F5F3EE"/>
      </a:lt2>
      <a:accent1>
        <a:srgbClr val="E8833A"/>
      </a:accent1>
      <a:accent2>
        <a:srgbClr val="A9501A"/>
      </a:accent2>
      <a:accent3>
        <a:srgbClr val="1B2840"/>
      </a:accent3>
      <a:accent4>
        <a:srgbClr val="B9C3D4"/>
      </a:accent4>
      <a:accent5>
        <a:srgbClr val="EBE7DF"/>
      </a:accent5>
      <a:accent6>
        <a:srgbClr val="DDD8CD"/>
      </a:accent6>
      <a:hlink>
        <a:srgbClr val="A9501A"/>
      </a:hlink>
      <a:folHlink>
        <a:srgbClr val="6B7280"/>
      </a:folHlink>
    </a:clrScheme>
    <a:fontScheme name="Typeahead Capsto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Typeahead DevOps Capstone</dc:title>
  <dc:subject>PptxGenJS Presentation</dc:subject>
  <dc:creator>Vimal Kumar Yadav</dc:creator>
  <cp:lastModifiedBy>Vimal Kumar Yadav</cp:lastModifiedBy>
  <cp:revision>1</cp:revision>
  <dcterms:created xsi:type="dcterms:W3CDTF">2026-10-15T20:03:31Z</dcterms:created>
  <dcterms:modified xsi:type="dcterms:W3CDTF">2026-10-15T20:03:31Z</dcterms:modified>
</cp:coreProperties>
</file>